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Times New Roman Bold" charset="1" panose="02020803070505020304"/>
      <p:regular r:id="rId17"/>
    </p:embeddedFont>
    <p:embeddedFont>
      <p:font typeface="Times New Roman" charset="1" panose="02020603050405020304"/>
      <p:regular r:id="rId18"/>
    </p:embeddedFont>
    <p:embeddedFont>
      <p:font typeface="Bukhari Script" charset="1" panose="000005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jpe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1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6" Target="../media/image15.png" Type="http://schemas.openxmlformats.org/officeDocument/2006/relationships/image"/><Relationship Id="rId7" Target="../media/image1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9.png" Type="http://schemas.openxmlformats.org/officeDocument/2006/relationships/image"/><Relationship Id="rId7" Target="../media/image20.png" Type="http://schemas.openxmlformats.org/officeDocument/2006/relationships/image"/><Relationship Id="rId8" Target="../media/image21.png" Type="http://schemas.openxmlformats.org/officeDocument/2006/relationships/image"/><Relationship Id="rId9" Target="../media/image2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2" Target="../media/image1.jpeg" Type="http://schemas.openxmlformats.org/officeDocument/2006/relationships/image"/><Relationship Id="rId3" Target="../media/image2.jpe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23.pn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 Id="rId9"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24.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2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2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8016535" y="342805"/>
            <a:ext cx="10271465" cy="1261095"/>
            <a:chOff x="0" y="0"/>
            <a:chExt cx="13695286" cy="1681460"/>
          </a:xfrm>
        </p:grpSpPr>
        <p:sp>
          <p:nvSpPr>
            <p:cNvPr name="Freeform 4" id="4"/>
            <p:cNvSpPr/>
            <p:nvPr/>
          </p:nvSpPr>
          <p:spPr>
            <a:xfrm flipH="false" flipV="false" rot="0">
              <a:off x="0" y="0"/>
              <a:ext cx="13695283" cy="1681465"/>
            </a:xfrm>
            <a:custGeom>
              <a:avLst/>
              <a:gdLst/>
              <a:ahLst/>
              <a:cxnLst/>
              <a:rect r="r" b="b" t="t" l="l"/>
              <a:pathLst>
                <a:path h="1681465" w="13695283">
                  <a:moveTo>
                    <a:pt x="0" y="0"/>
                  </a:moveTo>
                  <a:lnTo>
                    <a:pt x="13695283" y="0"/>
                  </a:lnTo>
                  <a:lnTo>
                    <a:pt x="13695283" y="1681465"/>
                  </a:lnTo>
                  <a:lnTo>
                    <a:pt x="0" y="1681465"/>
                  </a:lnTo>
                  <a:close/>
                </a:path>
              </a:pathLst>
            </a:custGeom>
            <a:blipFill>
              <a:blip r:embed="rId3">
                <a:alphaModFix amt="0"/>
              </a:blip>
              <a:stretch>
                <a:fillRect l="0" t="-117720" r="0" b="-99684"/>
              </a:stretch>
            </a:blipFill>
          </p:spPr>
        </p:sp>
        <p:sp>
          <p:nvSpPr>
            <p:cNvPr name="TextBox 5" id="5"/>
            <p:cNvSpPr txBox="true"/>
            <p:nvPr/>
          </p:nvSpPr>
          <p:spPr>
            <a:xfrm>
              <a:off x="0" y="-28575"/>
              <a:ext cx="13695286" cy="1710035"/>
            </a:xfrm>
            <a:prstGeom prst="rect">
              <a:avLst/>
            </a:prstGeom>
          </p:spPr>
          <p:txBody>
            <a:bodyPr anchor="ctr" rtlCol="false" tIns="0" lIns="0" bIns="0" rIns="0"/>
            <a:lstStyle/>
            <a:p>
              <a:pPr algn="ctr">
                <a:lnSpc>
                  <a:spcPts val="4320"/>
                </a:lnSpc>
              </a:pPr>
              <a:r>
                <a:rPr lang="en-US" sz="3600" b="true">
                  <a:solidFill>
                    <a:srgbClr val="008080"/>
                  </a:solidFill>
                  <a:latin typeface="Times New Roman Bold"/>
                  <a:ea typeface="Times New Roman Bold"/>
                  <a:cs typeface="Times New Roman Bold"/>
                  <a:sym typeface="Times New Roman Bold"/>
                </a:rPr>
                <a:t>TRƯỜNG ĐẠI HỌC GIAO THÔNG VẬN TẢI </a:t>
              </a:r>
            </a:p>
            <a:p>
              <a:pPr algn="ctr">
                <a:lnSpc>
                  <a:spcPts val="4320"/>
                </a:lnSpc>
              </a:pPr>
              <a:r>
                <a:rPr lang="en-US" sz="3600" b="true">
                  <a:solidFill>
                    <a:srgbClr val="008080"/>
                  </a:solidFill>
                  <a:latin typeface="Times New Roman Bold"/>
                  <a:ea typeface="Times New Roman Bold"/>
                  <a:cs typeface="Times New Roman Bold"/>
                  <a:sym typeface="Times New Roman Bold"/>
                </a:rPr>
                <a:t>THÀNH PHỐ HỒ CHÍ MINH</a:t>
              </a:r>
            </a:p>
          </p:txBody>
        </p:sp>
      </p:grpSp>
      <p:sp>
        <p:nvSpPr>
          <p:cNvPr name="Freeform 6" id="6"/>
          <p:cNvSpPr/>
          <p:nvPr/>
        </p:nvSpPr>
        <p:spPr>
          <a:xfrm flipH="false" flipV="false" rot="0">
            <a:off x="-6488427" y="5091969"/>
            <a:ext cx="34356339" cy="4895778"/>
          </a:xfrm>
          <a:custGeom>
            <a:avLst/>
            <a:gdLst/>
            <a:ahLst/>
            <a:cxnLst/>
            <a:rect r="r" b="b" t="t" l="l"/>
            <a:pathLst>
              <a:path h="4895778" w="34356339">
                <a:moveTo>
                  <a:pt x="0" y="0"/>
                </a:moveTo>
                <a:lnTo>
                  <a:pt x="34356339" y="0"/>
                </a:lnTo>
                <a:lnTo>
                  <a:pt x="34356339" y="4895778"/>
                </a:lnTo>
                <a:lnTo>
                  <a:pt x="0" y="4895778"/>
                </a:lnTo>
                <a:lnTo>
                  <a:pt x="0" y="0"/>
                </a:lnTo>
                <a:close/>
              </a:path>
            </a:pathLst>
          </a:custGeom>
          <a:blipFill>
            <a:blip r:embed="rId4">
              <a:alphaModFix amt="6000"/>
            </a:blip>
            <a:stretch>
              <a:fillRect l="0" t="0" r="0" b="0"/>
            </a:stretch>
          </a:blipFill>
        </p:spPr>
      </p:sp>
      <p:grpSp>
        <p:nvGrpSpPr>
          <p:cNvPr name="Group 7" id="7"/>
          <p:cNvGrpSpPr/>
          <p:nvPr/>
        </p:nvGrpSpPr>
        <p:grpSpPr>
          <a:xfrm rot="-1168322">
            <a:off x="537098" y="2175712"/>
            <a:ext cx="7434779" cy="15382828"/>
            <a:chOff x="0" y="0"/>
            <a:chExt cx="1958131" cy="4051444"/>
          </a:xfrm>
        </p:grpSpPr>
        <p:sp>
          <p:nvSpPr>
            <p:cNvPr name="Freeform 8" id="8"/>
            <p:cNvSpPr/>
            <p:nvPr/>
          </p:nvSpPr>
          <p:spPr>
            <a:xfrm flipH="false" flipV="false" rot="0">
              <a:off x="0" y="0"/>
              <a:ext cx="1958131" cy="4051444"/>
            </a:xfrm>
            <a:custGeom>
              <a:avLst/>
              <a:gdLst/>
              <a:ahLst/>
              <a:cxnLst/>
              <a:rect r="r" b="b" t="t" l="l"/>
              <a:pathLst>
                <a:path h="4051444" w="1958131">
                  <a:moveTo>
                    <a:pt x="0" y="0"/>
                  </a:moveTo>
                  <a:lnTo>
                    <a:pt x="1958131" y="0"/>
                  </a:lnTo>
                  <a:lnTo>
                    <a:pt x="1958131" y="4051444"/>
                  </a:lnTo>
                  <a:lnTo>
                    <a:pt x="0" y="4051444"/>
                  </a:lnTo>
                  <a:close/>
                </a:path>
              </a:pathLst>
            </a:custGeom>
            <a:solidFill>
              <a:srgbClr val="20989B"/>
            </a:solidFill>
          </p:spPr>
        </p:sp>
        <p:sp>
          <p:nvSpPr>
            <p:cNvPr name="TextBox 9" id="9"/>
            <p:cNvSpPr txBox="true"/>
            <p:nvPr/>
          </p:nvSpPr>
          <p:spPr>
            <a:xfrm>
              <a:off x="0" y="-57150"/>
              <a:ext cx="1958131" cy="410859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0" id="10"/>
          <p:cNvGrpSpPr/>
          <p:nvPr/>
        </p:nvGrpSpPr>
        <p:grpSpPr>
          <a:xfrm rot="-1168322">
            <a:off x="-4374619" y="-1666108"/>
            <a:ext cx="6388981" cy="15382828"/>
            <a:chOff x="0" y="0"/>
            <a:chExt cx="1682695" cy="4051444"/>
          </a:xfrm>
        </p:grpSpPr>
        <p:sp>
          <p:nvSpPr>
            <p:cNvPr name="Freeform 11" id="11"/>
            <p:cNvSpPr/>
            <p:nvPr/>
          </p:nvSpPr>
          <p:spPr>
            <a:xfrm flipH="false" flipV="false" rot="0">
              <a:off x="0" y="0"/>
              <a:ext cx="1682695" cy="4051444"/>
            </a:xfrm>
            <a:custGeom>
              <a:avLst/>
              <a:gdLst/>
              <a:ahLst/>
              <a:cxnLst/>
              <a:rect r="r" b="b" t="t" l="l"/>
              <a:pathLst>
                <a:path h="4051444" w="1682695">
                  <a:moveTo>
                    <a:pt x="0" y="0"/>
                  </a:moveTo>
                  <a:lnTo>
                    <a:pt x="1682695" y="0"/>
                  </a:lnTo>
                  <a:lnTo>
                    <a:pt x="1682695" y="4051444"/>
                  </a:lnTo>
                  <a:lnTo>
                    <a:pt x="0" y="4051444"/>
                  </a:lnTo>
                  <a:close/>
                </a:path>
              </a:pathLst>
            </a:custGeom>
            <a:solidFill>
              <a:srgbClr val="39515A"/>
            </a:solidFill>
          </p:spPr>
        </p:sp>
        <p:sp>
          <p:nvSpPr>
            <p:cNvPr name="TextBox 12" id="12"/>
            <p:cNvSpPr txBox="true"/>
            <p:nvPr/>
          </p:nvSpPr>
          <p:spPr>
            <a:xfrm>
              <a:off x="0" y="-57150"/>
              <a:ext cx="1682695" cy="410859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3" id="13"/>
          <p:cNvGrpSpPr/>
          <p:nvPr/>
        </p:nvGrpSpPr>
        <p:grpSpPr>
          <a:xfrm rot="0">
            <a:off x="592816" y="1461689"/>
            <a:ext cx="6973020" cy="7363621"/>
            <a:chOff x="0" y="0"/>
            <a:chExt cx="5960491" cy="6294374"/>
          </a:xfrm>
        </p:grpSpPr>
        <p:sp>
          <p:nvSpPr>
            <p:cNvPr name="Freeform 14" id="14"/>
            <p:cNvSpPr/>
            <p:nvPr/>
          </p:nvSpPr>
          <p:spPr>
            <a:xfrm flipH="false" flipV="false" rot="0">
              <a:off x="0" y="-44"/>
              <a:ext cx="5960480" cy="6294418"/>
            </a:xfrm>
            <a:custGeom>
              <a:avLst/>
              <a:gdLst/>
              <a:ahLst/>
              <a:cxnLst/>
              <a:rect r="r" b="b" t="t" l="l"/>
              <a:pathLst>
                <a:path h="6294418" w="5960480">
                  <a:moveTo>
                    <a:pt x="4226814" y="1119549"/>
                  </a:moveTo>
                  <a:cubicBezTo>
                    <a:pt x="4173601" y="967911"/>
                    <a:pt x="4001770" y="815892"/>
                    <a:pt x="3844798" y="781729"/>
                  </a:cubicBezTo>
                  <a:lnTo>
                    <a:pt x="285369" y="6521"/>
                  </a:lnTo>
                  <a:cubicBezTo>
                    <a:pt x="128397" y="-27642"/>
                    <a:pt x="0" y="75863"/>
                    <a:pt x="0" y="236518"/>
                  </a:cubicBezTo>
                  <a:lnTo>
                    <a:pt x="0" y="6002318"/>
                  </a:lnTo>
                  <a:cubicBezTo>
                    <a:pt x="0" y="6162973"/>
                    <a:pt x="131445" y="6294418"/>
                    <a:pt x="292100" y="6294418"/>
                  </a:cubicBezTo>
                  <a:lnTo>
                    <a:pt x="5749544" y="6294418"/>
                  </a:lnTo>
                  <a:cubicBezTo>
                    <a:pt x="5910199" y="6294418"/>
                    <a:pt x="5998083" y="6170339"/>
                    <a:pt x="5944997" y="6018828"/>
                  </a:cubicBezTo>
                  <a:lnTo>
                    <a:pt x="4226814" y="1119549"/>
                  </a:lnTo>
                  <a:close/>
                </a:path>
              </a:pathLst>
            </a:custGeom>
            <a:blipFill>
              <a:blip r:embed="rId5"/>
              <a:stretch>
                <a:fillRect l="0" t="-36" r="0" b="-36"/>
              </a:stretch>
            </a:blipFill>
            <a:ln w="114300" cap="sq">
              <a:solidFill>
                <a:srgbClr val="FFFFFF"/>
              </a:solidFill>
              <a:prstDash val="solid"/>
              <a:miter/>
            </a:ln>
          </p:spPr>
        </p:sp>
      </p:grpSp>
      <p:grpSp>
        <p:nvGrpSpPr>
          <p:cNvPr name="Group 15" id="15"/>
          <p:cNvGrpSpPr/>
          <p:nvPr/>
        </p:nvGrpSpPr>
        <p:grpSpPr>
          <a:xfrm rot="-1168322">
            <a:off x="7299902" y="5618795"/>
            <a:ext cx="887655" cy="5600547"/>
            <a:chOff x="0" y="0"/>
            <a:chExt cx="233786" cy="1475041"/>
          </a:xfrm>
        </p:grpSpPr>
        <p:sp>
          <p:nvSpPr>
            <p:cNvPr name="Freeform 16" id="16"/>
            <p:cNvSpPr/>
            <p:nvPr/>
          </p:nvSpPr>
          <p:spPr>
            <a:xfrm flipH="false" flipV="false" rot="0">
              <a:off x="0" y="0"/>
              <a:ext cx="233786" cy="1475041"/>
            </a:xfrm>
            <a:custGeom>
              <a:avLst/>
              <a:gdLst/>
              <a:ahLst/>
              <a:cxnLst/>
              <a:rect r="r" b="b" t="t" l="l"/>
              <a:pathLst>
                <a:path h="1475041" w="233786">
                  <a:moveTo>
                    <a:pt x="0" y="0"/>
                  </a:moveTo>
                  <a:lnTo>
                    <a:pt x="233786" y="0"/>
                  </a:lnTo>
                  <a:lnTo>
                    <a:pt x="233786" y="1475041"/>
                  </a:lnTo>
                  <a:lnTo>
                    <a:pt x="0" y="1475041"/>
                  </a:lnTo>
                  <a:close/>
                </a:path>
              </a:pathLst>
            </a:custGeom>
            <a:gradFill rotWithShape="true">
              <a:gsLst>
                <a:gs pos="0">
                  <a:srgbClr val="F9FFFF">
                    <a:alpha val="0"/>
                  </a:srgbClr>
                </a:gs>
                <a:gs pos="50000">
                  <a:srgbClr val="C3FEFF">
                    <a:alpha val="50500"/>
                  </a:srgbClr>
                </a:gs>
                <a:gs pos="100000">
                  <a:srgbClr val="20989B">
                    <a:alpha val="100000"/>
                  </a:srgbClr>
                </a:gs>
              </a:gsLst>
              <a:lin ang="5400000"/>
            </a:gradFill>
          </p:spPr>
        </p:sp>
        <p:sp>
          <p:nvSpPr>
            <p:cNvPr name="TextBox 17" id="17"/>
            <p:cNvSpPr txBox="true"/>
            <p:nvPr/>
          </p:nvSpPr>
          <p:spPr>
            <a:xfrm>
              <a:off x="0" y="-57150"/>
              <a:ext cx="233786" cy="153219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8" id="18"/>
          <p:cNvSpPr/>
          <p:nvPr/>
        </p:nvSpPr>
        <p:spPr>
          <a:xfrm flipH="false" flipV="false" rot="0">
            <a:off x="322406" y="8252378"/>
            <a:ext cx="1014510" cy="1005922"/>
          </a:xfrm>
          <a:custGeom>
            <a:avLst/>
            <a:gdLst/>
            <a:ahLst/>
            <a:cxnLst/>
            <a:rect r="r" b="b" t="t" l="l"/>
            <a:pathLst>
              <a:path h="1005922" w="1014510">
                <a:moveTo>
                  <a:pt x="0" y="0"/>
                </a:moveTo>
                <a:lnTo>
                  <a:pt x="1014510" y="0"/>
                </a:lnTo>
                <a:lnTo>
                  <a:pt x="1014510" y="1005922"/>
                </a:lnTo>
                <a:lnTo>
                  <a:pt x="0" y="1005922"/>
                </a:lnTo>
                <a:lnTo>
                  <a:pt x="0" y="0"/>
                </a:lnTo>
                <a:close/>
              </a:path>
            </a:pathLst>
          </a:custGeom>
          <a:blipFill>
            <a:blip r:embed="rId6">
              <a:extLst>
                <a:ext uri="{96DAC541-7B7A-43D3-8B79-37D633B846F1}">
                  <asvg:svgBlip xmlns:asvg="http://schemas.microsoft.com/office/drawing/2016/SVG/main" r:embed="rId7"/>
                </a:ext>
              </a:extLst>
            </a:blip>
            <a:stretch>
              <a:fillRect l="0" t="-106388" r="-103152" b="0"/>
            </a:stretch>
          </a:blipFill>
        </p:spPr>
      </p:sp>
      <p:sp>
        <p:nvSpPr>
          <p:cNvPr name="Freeform 19" id="19"/>
          <p:cNvSpPr/>
          <p:nvPr/>
        </p:nvSpPr>
        <p:spPr>
          <a:xfrm flipH="false" flipV="false" rot="0">
            <a:off x="2631539" y="1080376"/>
            <a:ext cx="1764021" cy="1764021"/>
          </a:xfrm>
          <a:custGeom>
            <a:avLst/>
            <a:gdLst/>
            <a:ahLst/>
            <a:cxnLst/>
            <a:rect r="r" b="b" t="t" l="l"/>
            <a:pathLst>
              <a:path h="1764021" w="1764021">
                <a:moveTo>
                  <a:pt x="0" y="0"/>
                </a:moveTo>
                <a:lnTo>
                  <a:pt x="1764021" y="0"/>
                </a:lnTo>
                <a:lnTo>
                  <a:pt x="1764021" y="1764020"/>
                </a:lnTo>
                <a:lnTo>
                  <a:pt x="0" y="1764020"/>
                </a:lnTo>
                <a:lnTo>
                  <a:pt x="0" y="0"/>
                </a:lnTo>
                <a:close/>
              </a:path>
            </a:pathLst>
          </a:custGeom>
          <a:blipFill>
            <a:blip r:embed="rId8">
              <a:alphaModFix amt="44999"/>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false" flipV="false" rot="0">
            <a:off x="4953811" y="5004084"/>
            <a:ext cx="4591447" cy="4583099"/>
          </a:xfrm>
          <a:custGeom>
            <a:avLst/>
            <a:gdLst/>
            <a:ahLst/>
            <a:cxnLst/>
            <a:rect r="r" b="b" t="t" l="l"/>
            <a:pathLst>
              <a:path h="4583099" w="4591447">
                <a:moveTo>
                  <a:pt x="0" y="0"/>
                </a:moveTo>
                <a:lnTo>
                  <a:pt x="4591448" y="0"/>
                </a:lnTo>
                <a:lnTo>
                  <a:pt x="4591448" y="4583100"/>
                </a:lnTo>
                <a:lnTo>
                  <a:pt x="0" y="4583100"/>
                </a:lnTo>
                <a:lnTo>
                  <a:pt x="0" y="0"/>
                </a:lnTo>
                <a:close/>
              </a:path>
            </a:pathLst>
          </a:custGeom>
          <a:blipFill>
            <a:blip r:embed="rId10"/>
            <a:stretch>
              <a:fillRect l="0" t="0" r="0" b="0"/>
            </a:stretch>
          </a:blipFill>
        </p:spPr>
      </p:sp>
      <p:grpSp>
        <p:nvGrpSpPr>
          <p:cNvPr name="Group 21" id="21"/>
          <p:cNvGrpSpPr/>
          <p:nvPr/>
        </p:nvGrpSpPr>
        <p:grpSpPr>
          <a:xfrm rot="0">
            <a:off x="5269577" y="5332968"/>
            <a:ext cx="3925332" cy="3925332"/>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0989B"/>
            </a:solidFill>
          </p:spPr>
        </p:sp>
        <p:sp>
          <p:nvSpPr>
            <p:cNvPr name="TextBox 23" id="23"/>
            <p:cNvSpPr txBox="true"/>
            <p:nvPr/>
          </p:nvSpPr>
          <p:spPr>
            <a:xfrm>
              <a:off x="76200" y="19050"/>
              <a:ext cx="660400" cy="717550"/>
            </a:xfrm>
            <a:prstGeom prst="rect">
              <a:avLst/>
            </a:prstGeom>
          </p:spPr>
          <p:txBody>
            <a:bodyPr anchor="ctr" rtlCol="false" tIns="50800" lIns="50800" bIns="50800" rIns="50800"/>
            <a:lstStyle/>
            <a:p>
              <a:pPr algn="ctr" marL="0" indent="0" lvl="0">
                <a:lnSpc>
                  <a:spcPts val="2659"/>
                </a:lnSpc>
              </a:pPr>
            </a:p>
          </p:txBody>
        </p:sp>
      </p:grpSp>
      <p:grpSp>
        <p:nvGrpSpPr>
          <p:cNvPr name="Group 24" id="24"/>
          <p:cNvGrpSpPr/>
          <p:nvPr/>
        </p:nvGrpSpPr>
        <p:grpSpPr>
          <a:xfrm rot="0">
            <a:off x="5505087" y="5568478"/>
            <a:ext cx="3454312" cy="3454312"/>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1"/>
              <a:stretch>
                <a:fillRect l="0" t="0" r="0" b="0"/>
              </a:stretch>
            </a:blipFill>
          </p:spPr>
        </p:sp>
      </p:grpSp>
      <p:sp>
        <p:nvSpPr>
          <p:cNvPr name="Freeform 26" id="26"/>
          <p:cNvSpPr/>
          <p:nvPr/>
        </p:nvSpPr>
        <p:spPr>
          <a:xfrm flipH="false" flipV="false" rot="0">
            <a:off x="7232243" y="1702877"/>
            <a:ext cx="2076806" cy="252993"/>
          </a:xfrm>
          <a:custGeom>
            <a:avLst/>
            <a:gdLst/>
            <a:ahLst/>
            <a:cxnLst/>
            <a:rect r="r" b="b" t="t" l="l"/>
            <a:pathLst>
              <a:path h="252993" w="2076806">
                <a:moveTo>
                  <a:pt x="0" y="0"/>
                </a:moveTo>
                <a:lnTo>
                  <a:pt x="2076806" y="0"/>
                </a:lnTo>
                <a:lnTo>
                  <a:pt x="2076806" y="252993"/>
                </a:lnTo>
                <a:lnTo>
                  <a:pt x="0" y="25299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7" id="27"/>
          <p:cNvSpPr txBox="true"/>
          <p:nvPr/>
        </p:nvSpPr>
        <p:spPr>
          <a:xfrm rot="0">
            <a:off x="9095634" y="2965412"/>
            <a:ext cx="8299901" cy="1492817"/>
          </a:xfrm>
          <a:prstGeom prst="rect">
            <a:avLst/>
          </a:prstGeom>
        </p:spPr>
        <p:txBody>
          <a:bodyPr anchor="t" rtlCol="false" tIns="0" lIns="0" bIns="0" rIns="0">
            <a:spAutoFit/>
          </a:bodyPr>
          <a:lstStyle/>
          <a:p>
            <a:pPr algn="ctr" marL="0" indent="0" lvl="0">
              <a:lnSpc>
                <a:spcPts val="5722"/>
              </a:lnSpc>
            </a:pPr>
            <a:r>
              <a:rPr lang="en-US" b="true" sz="5063" spc="-212">
                <a:solidFill>
                  <a:srgbClr val="008080"/>
                </a:solidFill>
                <a:latin typeface="Times New Roman Bold"/>
                <a:ea typeface="Times New Roman Bold"/>
                <a:cs typeface="Times New Roman Bold"/>
                <a:sym typeface="Times New Roman Bold"/>
              </a:rPr>
              <a:t>WEBSITE TRA CỨU ĐIỂM CHUẨN ĐẠI HỌC</a:t>
            </a:r>
          </a:p>
        </p:txBody>
      </p:sp>
      <p:grpSp>
        <p:nvGrpSpPr>
          <p:cNvPr name="Group 28" id="28"/>
          <p:cNvGrpSpPr/>
          <p:nvPr/>
        </p:nvGrpSpPr>
        <p:grpSpPr>
          <a:xfrm rot="0">
            <a:off x="3275743" y="3488168"/>
            <a:ext cx="4378158" cy="872144"/>
            <a:chOff x="0" y="0"/>
            <a:chExt cx="2040125" cy="406400"/>
          </a:xfrm>
        </p:grpSpPr>
        <p:sp>
          <p:nvSpPr>
            <p:cNvPr name="Freeform 29" id="29"/>
            <p:cNvSpPr/>
            <p:nvPr/>
          </p:nvSpPr>
          <p:spPr>
            <a:xfrm flipH="false" flipV="false" rot="0">
              <a:off x="0" y="0"/>
              <a:ext cx="2040125" cy="406400"/>
            </a:xfrm>
            <a:custGeom>
              <a:avLst/>
              <a:gdLst/>
              <a:ahLst/>
              <a:cxnLst/>
              <a:rect r="r" b="b" t="t" l="l"/>
              <a:pathLst>
                <a:path h="406400" w="2040125">
                  <a:moveTo>
                    <a:pt x="1836925" y="0"/>
                  </a:moveTo>
                  <a:cubicBezTo>
                    <a:pt x="1949150" y="0"/>
                    <a:pt x="2040125" y="90976"/>
                    <a:pt x="2040125" y="203200"/>
                  </a:cubicBezTo>
                  <a:cubicBezTo>
                    <a:pt x="2040125" y="315424"/>
                    <a:pt x="1949150" y="406400"/>
                    <a:pt x="1836925" y="406400"/>
                  </a:cubicBezTo>
                  <a:lnTo>
                    <a:pt x="203200" y="406400"/>
                  </a:lnTo>
                  <a:cubicBezTo>
                    <a:pt x="90976" y="406400"/>
                    <a:pt x="0" y="315424"/>
                    <a:pt x="0" y="203200"/>
                  </a:cubicBezTo>
                  <a:cubicBezTo>
                    <a:pt x="0" y="90976"/>
                    <a:pt x="90976" y="0"/>
                    <a:pt x="203200" y="0"/>
                  </a:cubicBezTo>
                  <a:close/>
                </a:path>
              </a:pathLst>
            </a:custGeom>
            <a:solidFill>
              <a:srgbClr val="39515A"/>
            </a:solidFill>
          </p:spPr>
        </p:sp>
        <p:sp>
          <p:nvSpPr>
            <p:cNvPr name="TextBox 30" id="30"/>
            <p:cNvSpPr txBox="true"/>
            <p:nvPr/>
          </p:nvSpPr>
          <p:spPr>
            <a:xfrm>
              <a:off x="0" y="-57150"/>
              <a:ext cx="2040125" cy="463550"/>
            </a:xfrm>
            <a:prstGeom prst="rect">
              <a:avLst/>
            </a:prstGeom>
          </p:spPr>
          <p:txBody>
            <a:bodyPr anchor="ctr" rtlCol="false" tIns="50800" lIns="50800" bIns="50800" rIns="50800"/>
            <a:lstStyle/>
            <a:p>
              <a:pPr algn="ctr" marL="0" indent="0" lvl="0">
                <a:lnSpc>
                  <a:spcPts val="2659"/>
                </a:lnSpc>
              </a:pPr>
            </a:p>
          </p:txBody>
        </p:sp>
      </p:grpSp>
      <p:sp>
        <p:nvSpPr>
          <p:cNvPr name="TextBox 31" id="31"/>
          <p:cNvSpPr txBox="true"/>
          <p:nvPr/>
        </p:nvSpPr>
        <p:spPr>
          <a:xfrm rot="0">
            <a:off x="3680108" y="3581021"/>
            <a:ext cx="3569427" cy="677728"/>
          </a:xfrm>
          <a:prstGeom prst="rect">
            <a:avLst/>
          </a:prstGeom>
        </p:spPr>
        <p:txBody>
          <a:bodyPr anchor="t" rtlCol="false" tIns="0" lIns="0" bIns="0" rIns="0">
            <a:spAutoFit/>
          </a:bodyPr>
          <a:lstStyle/>
          <a:p>
            <a:pPr algn="ctr" marL="0" indent="0" lvl="0">
              <a:lnSpc>
                <a:spcPts val="2606"/>
              </a:lnSpc>
            </a:pPr>
            <a:r>
              <a:rPr lang="en-US" b="true" sz="2306" spc="-96">
                <a:solidFill>
                  <a:srgbClr val="FFFFFF"/>
                </a:solidFill>
                <a:latin typeface="Times New Roman Bold"/>
                <a:ea typeface="Times New Roman Bold"/>
                <a:cs typeface="Times New Roman Bold"/>
                <a:sym typeface="Times New Roman Bold"/>
              </a:rPr>
              <a:t>PHP · MYSQL · HTML · CSS · JS</a:t>
            </a:r>
          </a:p>
        </p:txBody>
      </p:sp>
      <p:sp>
        <p:nvSpPr>
          <p:cNvPr name="TextBox 32" id="32"/>
          <p:cNvSpPr txBox="true"/>
          <p:nvPr/>
        </p:nvSpPr>
        <p:spPr>
          <a:xfrm rot="0">
            <a:off x="10689742" y="5168056"/>
            <a:ext cx="6569558" cy="2108200"/>
          </a:xfrm>
          <a:prstGeom prst="rect">
            <a:avLst/>
          </a:prstGeom>
        </p:spPr>
        <p:txBody>
          <a:bodyPr anchor="t" rtlCol="false" tIns="0" lIns="0" bIns="0" rIns="0">
            <a:spAutoFit/>
          </a:bodyPr>
          <a:lstStyle/>
          <a:p>
            <a:pPr algn="l">
              <a:lnSpc>
                <a:spcPts val="5599"/>
              </a:lnSpc>
              <a:spcBef>
                <a:spcPct val="0"/>
              </a:spcBef>
            </a:pPr>
            <a:r>
              <a:rPr lang="en-US" b="true" sz="3999">
                <a:solidFill>
                  <a:srgbClr val="008080"/>
                </a:solidFill>
                <a:latin typeface="Times New Roman Bold"/>
                <a:ea typeface="Times New Roman Bold"/>
                <a:cs typeface="Times New Roman Bold"/>
                <a:sym typeface="Times New Roman Bold"/>
              </a:rPr>
              <a:t>Nhóm thực hiện: Nhóm 9 </a:t>
            </a:r>
          </a:p>
          <a:p>
            <a:pPr algn="l">
              <a:lnSpc>
                <a:spcPts val="5599"/>
              </a:lnSpc>
              <a:spcBef>
                <a:spcPct val="0"/>
              </a:spcBef>
            </a:pPr>
            <a:r>
              <a:rPr lang="en-US" b="true" sz="3999">
                <a:solidFill>
                  <a:srgbClr val="008080"/>
                </a:solidFill>
                <a:latin typeface="Times New Roman Bold"/>
                <a:ea typeface="Times New Roman Bold"/>
                <a:cs typeface="Times New Roman Bold"/>
                <a:sym typeface="Times New Roman Bold"/>
              </a:rPr>
              <a:t>Thành viên</a:t>
            </a:r>
            <a:r>
              <a:rPr lang="en-US" sz="3999">
                <a:solidFill>
                  <a:srgbClr val="008080"/>
                </a:solidFill>
                <a:latin typeface="Times New Roman"/>
                <a:ea typeface="Times New Roman"/>
                <a:cs typeface="Times New Roman"/>
                <a:sym typeface="Times New Roman"/>
              </a:rPr>
              <a:t>: </a:t>
            </a:r>
            <a:r>
              <a:rPr lang="en-US" sz="3999">
                <a:solidFill>
                  <a:srgbClr val="000000"/>
                </a:solidFill>
                <a:latin typeface="Times New Roman"/>
                <a:ea typeface="Times New Roman"/>
                <a:cs typeface="Times New Roman"/>
                <a:sym typeface="Times New Roman"/>
              </a:rPr>
              <a:t>Nguyễn Văn Hào</a:t>
            </a:r>
          </a:p>
          <a:p>
            <a:pPr algn="l">
              <a:lnSpc>
                <a:spcPts val="5599"/>
              </a:lnSpc>
              <a:spcBef>
                <a:spcPct val="0"/>
              </a:spcBef>
            </a:pPr>
            <a:r>
              <a:rPr lang="en-US" sz="3999">
                <a:solidFill>
                  <a:srgbClr val="000000"/>
                </a:solidFill>
                <a:latin typeface="Times New Roman"/>
                <a:ea typeface="Times New Roman"/>
                <a:cs typeface="Times New Roman"/>
                <a:sym typeface="Times New Roman"/>
              </a:rPr>
              <a:t>                      Nguyễn Thế Anh</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8016535" y="342805"/>
            <a:ext cx="10271465" cy="1261095"/>
            <a:chOff x="0" y="0"/>
            <a:chExt cx="13695286" cy="1681460"/>
          </a:xfrm>
        </p:grpSpPr>
        <p:sp>
          <p:nvSpPr>
            <p:cNvPr name="Freeform 4" id="4"/>
            <p:cNvSpPr/>
            <p:nvPr/>
          </p:nvSpPr>
          <p:spPr>
            <a:xfrm flipH="false" flipV="false" rot="0">
              <a:off x="0" y="0"/>
              <a:ext cx="13695283" cy="1681465"/>
            </a:xfrm>
            <a:custGeom>
              <a:avLst/>
              <a:gdLst/>
              <a:ahLst/>
              <a:cxnLst/>
              <a:rect r="r" b="b" t="t" l="l"/>
              <a:pathLst>
                <a:path h="1681465" w="13695283">
                  <a:moveTo>
                    <a:pt x="0" y="0"/>
                  </a:moveTo>
                  <a:lnTo>
                    <a:pt x="13695283" y="0"/>
                  </a:lnTo>
                  <a:lnTo>
                    <a:pt x="13695283" y="1681465"/>
                  </a:lnTo>
                  <a:lnTo>
                    <a:pt x="0" y="1681465"/>
                  </a:lnTo>
                  <a:close/>
                </a:path>
              </a:pathLst>
            </a:custGeom>
            <a:blipFill>
              <a:blip r:embed="rId3">
                <a:alphaModFix amt="0"/>
              </a:blip>
              <a:stretch>
                <a:fillRect l="0" t="-117720" r="0" b="-99684"/>
              </a:stretch>
            </a:blipFill>
          </p:spPr>
        </p:sp>
        <p:sp>
          <p:nvSpPr>
            <p:cNvPr name="TextBox 5" id="5"/>
            <p:cNvSpPr txBox="true"/>
            <p:nvPr/>
          </p:nvSpPr>
          <p:spPr>
            <a:xfrm>
              <a:off x="0" y="-28575"/>
              <a:ext cx="13695286" cy="1710035"/>
            </a:xfrm>
            <a:prstGeom prst="rect">
              <a:avLst/>
            </a:prstGeom>
          </p:spPr>
          <p:txBody>
            <a:bodyPr anchor="ctr" rtlCol="false" tIns="0" lIns="0" bIns="0" rIns="0"/>
            <a:lstStyle/>
            <a:p>
              <a:pPr algn="ctr">
                <a:lnSpc>
                  <a:spcPts val="4320"/>
                </a:lnSpc>
              </a:pPr>
              <a:r>
                <a:rPr lang="en-US" sz="3600" b="true">
                  <a:solidFill>
                    <a:srgbClr val="008080"/>
                  </a:solidFill>
                  <a:latin typeface="Times New Roman Bold"/>
                  <a:ea typeface="Times New Roman Bold"/>
                  <a:cs typeface="Times New Roman Bold"/>
                  <a:sym typeface="Times New Roman Bold"/>
                </a:rPr>
                <a:t>TRƯỜNG ĐẠI HỌC GIAO THÔNG VẬN TẢI </a:t>
              </a:r>
            </a:p>
            <a:p>
              <a:pPr algn="ctr">
                <a:lnSpc>
                  <a:spcPts val="4320"/>
                </a:lnSpc>
              </a:pPr>
              <a:r>
                <a:rPr lang="en-US" sz="3600" b="true">
                  <a:solidFill>
                    <a:srgbClr val="008080"/>
                  </a:solidFill>
                  <a:latin typeface="Times New Roman Bold"/>
                  <a:ea typeface="Times New Roman Bold"/>
                  <a:cs typeface="Times New Roman Bold"/>
                  <a:sym typeface="Times New Roman Bold"/>
                </a:rPr>
                <a:t>THÀNH PHỐ HỒ CHÍ MINH</a:t>
              </a:r>
            </a:p>
          </p:txBody>
        </p:sp>
      </p:grpSp>
      <p:grpSp>
        <p:nvGrpSpPr>
          <p:cNvPr name="Group 6" id="6"/>
          <p:cNvGrpSpPr/>
          <p:nvPr/>
        </p:nvGrpSpPr>
        <p:grpSpPr>
          <a:xfrm rot="0">
            <a:off x="8722635" y="7315624"/>
            <a:ext cx="9408975" cy="2280199"/>
            <a:chOff x="0" y="0"/>
            <a:chExt cx="2478084" cy="600546"/>
          </a:xfrm>
        </p:grpSpPr>
        <p:sp>
          <p:nvSpPr>
            <p:cNvPr name="Freeform 7" id="7"/>
            <p:cNvSpPr/>
            <p:nvPr/>
          </p:nvSpPr>
          <p:spPr>
            <a:xfrm flipH="false" flipV="false" rot="0">
              <a:off x="0" y="0"/>
              <a:ext cx="2478084" cy="600546"/>
            </a:xfrm>
            <a:custGeom>
              <a:avLst/>
              <a:gdLst/>
              <a:ahLst/>
              <a:cxnLst/>
              <a:rect r="r" b="b" t="t" l="l"/>
              <a:pathLst>
                <a:path h="600546" w="2478084">
                  <a:moveTo>
                    <a:pt x="41964" y="0"/>
                  </a:moveTo>
                  <a:lnTo>
                    <a:pt x="2436120" y="0"/>
                  </a:lnTo>
                  <a:cubicBezTo>
                    <a:pt x="2447249" y="0"/>
                    <a:pt x="2457923" y="4421"/>
                    <a:pt x="2465793" y="12291"/>
                  </a:cubicBezTo>
                  <a:cubicBezTo>
                    <a:pt x="2473663" y="20161"/>
                    <a:pt x="2478084" y="30834"/>
                    <a:pt x="2478084" y="41964"/>
                  </a:cubicBezTo>
                  <a:lnTo>
                    <a:pt x="2478084" y="558582"/>
                  </a:lnTo>
                  <a:cubicBezTo>
                    <a:pt x="2478084" y="569712"/>
                    <a:pt x="2473663" y="580385"/>
                    <a:pt x="2465793" y="588255"/>
                  </a:cubicBezTo>
                  <a:cubicBezTo>
                    <a:pt x="2457923" y="596125"/>
                    <a:pt x="2447249" y="600546"/>
                    <a:pt x="2436120" y="600546"/>
                  </a:cubicBezTo>
                  <a:lnTo>
                    <a:pt x="41964" y="600546"/>
                  </a:lnTo>
                  <a:cubicBezTo>
                    <a:pt x="30834" y="600546"/>
                    <a:pt x="20161" y="596125"/>
                    <a:pt x="12291" y="588255"/>
                  </a:cubicBezTo>
                  <a:cubicBezTo>
                    <a:pt x="4421" y="580385"/>
                    <a:pt x="0" y="569712"/>
                    <a:pt x="0" y="558582"/>
                  </a:cubicBezTo>
                  <a:lnTo>
                    <a:pt x="0" y="41964"/>
                  </a:lnTo>
                  <a:cubicBezTo>
                    <a:pt x="0" y="30834"/>
                    <a:pt x="4421" y="20161"/>
                    <a:pt x="12291" y="12291"/>
                  </a:cubicBezTo>
                  <a:cubicBezTo>
                    <a:pt x="20161" y="4421"/>
                    <a:pt x="30834" y="0"/>
                    <a:pt x="41964" y="0"/>
                  </a:cubicBezTo>
                  <a:close/>
                </a:path>
              </a:pathLst>
            </a:custGeom>
            <a:solidFill>
              <a:srgbClr val="EFEEFB"/>
            </a:solidFill>
          </p:spPr>
        </p:sp>
        <p:sp>
          <p:nvSpPr>
            <p:cNvPr name="TextBox 8" id="8"/>
            <p:cNvSpPr txBox="true"/>
            <p:nvPr/>
          </p:nvSpPr>
          <p:spPr>
            <a:xfrm>
              <a:off x="0" y="-95250"/>
              <a:ext cx="2478084" cy="695796"/>
            </a:xfrm>
            <a:prstGeom prst="rect">
              <a:avLst/>
            </a:prstGeom>
          </p:spPr>
          <p:txBody>
            <a:bodyPr anchor="ctr" rtlCol="false" tIns="50800" lIns="50800" bIns="50800" rIns="50800"/>
            <a:lstStyle/>
            <a:p>
              <a:pPr algn="ctr">
                <a:lnSpc>
                  <a:spcPts val="5599"/>
                </a:lnSpc>
              </a:pPr>
            </a:p>
          </p:txBody>
        </p:sp>
      </p:grpSp>
      <p:grpSp>
        <p:nvGrpSpPr>
          <p:cNvPr name="Group 9" id="9"/>
          <p:cNvGrpSpPr/>
          <p:nvPr/>
        </p:nvGrpSpPr>
        <p:grpSpPr>
          <a:xfrm rot="0">
            <a:off x="8722635" y="3588582"/>
            <a:ext cx="9408975" cy="2330239"/>
            <a:chOff x="0" y="0"/>
            <a:chExt cx="2478084" cy="613725"/>
          </a:xfrm>
        </p:grpSpPr>
        <p:sp>
          <p:nvSpPr>
            <p:cNvPr name="Freeform 10" id="10"/>
            <p:cNvSpPr/>
            <p:nvPr/>
          </p:nvSpPr>
          <p:spPr>
            <a:xfrm flipH="false" flipV="false" rot="0">
              <a:off x="0" y="0"/>
              <a:ext cx="2478084" cy="613725"/>
            </a:xfrm>
            <a:custGeom>
              <a:avLst/>
              <a:gdLst/>
              <a:ahLst/>
              <a:cxnLst/>
              <a:rect r="r" b="b" t="t" l="l"/>
              <a:pathLst>
                <a:path h="613725" w="2478084">
                  <a:moveTo>
                    <a:pt x="41964" y="0"/>
                  </a:moveTo>
                  <a:lnTo>
                    <a:pt x="2436120" y="0"/>
                  </a:lnTo>
                  <a:cubicBezTo>
                    <a:pt x="2447249" y="0"/>
                    <a:pt x="2457923" y="4421"/>
                    <a:pt x="2465793" y="12291"/>
                  </a:cubicBezTo>
                  <a:cubicBezTo>
                    <a:pt x="2473663" y="20161"/>
                    <a:pt x="2478084" y="30834"/>
                    <a:pt x="2478084" y="41964"/>
                  </a:cubicBezTo>
                  <a:lnTo>
                    <a:pt x="2478084" y="571762"/>
                  </a:lnTo>
                  <a:cubicBezTo>
                    <a:pt x="2478084" y="582891"/>
                    <a:pt x="2473663" y="593565"/>
                    <a:pt x="2465793" y="601435"/>
                  </a:cubicBezTo>
                  <a:cubicBezTo>
                    <a:pt x="2457923" y="609304"/>
                    <a:pt x="2447249" y="613725"/>
                    <a:pt x="2436120" y="613725"/>
                  </a:cubicBezTo>
                  <a:lnTo>
                    <a:pt x="41964" y="613725"/>
                  </a:lnTo>
                  <a:cubicBezTo>
                    <a:pt x="30834" y="613725"/>
                    <a:pt x="20161" y="609304"/>
                    <a:pt x="12291" y="601435"/>
                  </a:cubicBezTo>
                  <a:cubicBezTo>
                    <a:pt x="4421" y="593565"/>
                    <a:pt x="0" y="582891"/>
                    <a:pt x="0" y="571762"/>
                  </a:cubicBezTo>
                  <a:lnTo>
                    <a:pt x="0" y="41964"/>
                  </a:lnTo>
                  <a:cubicBezTo>
                    <a:pt x="0" y="30834"/>
                    <a:pt x="4421" y="20161"/>
                    <a:pt x="12291" y="12291"/>
                  </a:cubicBezTo>
                  <a:cubicBezTo>
                    <a:pt x="20161" y="4421"/>
                    <a:pt x="30834" y="0"/>
                    <a:pt x="41964" y="0"/>
                  </a:cubicBezTo>
                  <a:close/>
                </a:path>
              </a:pathLst>
            </a:custGeom>
            <a:solidFill>
              <a:srgbClr val="EFEEFB"/>
            </a:solidFill>
          </p:spPr>
        </p:sp>
        <p:sp>
          <p:nvSpPr>
            <p:cNvPr name="TextBox 11" id="11"/>
            <p:cNvSpPr txBox="true"/>
            <p:nvPr/>
          </p:nvSpPr>
          <p:spPr>
            <a:xfrm>
              <a:off x="0" y="-95250"/>
              <a:ext cx="2478084" cy="708975"/>
            </a:xfrm>
            <a:prstGeom prst="rect">
              <a:avLst/>
            </a:prstGeom>
          </p:spPr>
          <p:txBody>
            <a:bodyPr anchor="ctr" rtlCol="false" tIns="50800" lIns="50800" bIns="50800" rIns="50800"/>
            <a:lstStyle/>
            <a:p>
              <a:pPr algn="ctr">
                <a:lnSpc>
                  <a:spcPts val="5599"/>
                </a:lnSpc>
              </a:pPr>
            </a:p>
          </p:txBody>
        </p:sp>
      </p:grpSp>
      <p:sp>
        <p:nvSpPr>
          <p:cNvPr name="Freeform 12" id="12"/>
          <p:cNvSpPr/>
          <p:nvPr/>
        </p:nvSpPr>
        <p:spPr>
          <a:xfrm flipH="false" flipV="true" rot="-6270710">
            <a:off x="11455062" y="4514251"/>
            <a:ext cx="13353097" cy="404258"/>
          </a:xfrm>
          <a:custGeom>
            <a:avLst/>
            <a:gdLst/>
            <a:ahLst/>
            <a:cxnLst/>
            <a:rect r="r" b="b" t="t" l="l"/>
            <a:pathLst>
              <a:path h="404258" w="13353097">
                <a:moveTo>
                  <a:pt x="0" y="404258"/>
                </a:moveTo>
                <a:lnTo>
                  <a:pt x="13353096" y="404258"/>
                </a:lnTo>
                <a:lnTo>
                  <a:pt x="13353096" y="0"/>
                </a:lnTo>
                <a:lnTo>
                  <a:pt x="0" y="0"/>
                </a:lnTo>
                <a:lnTo>
                  <a:pt x="0" y="404258"/>
                </a:lnTo>
                <a:close/>
              </a:path>
            </a:pathLst>
          </a:custGeom>
          <a:blipFill>
            <a:blip r:embed="rId4"/>
            <a:stretch>
              <a:fillRect l="0" t="-1843398" r="0" b="0"/>
            </a:stretch>
          </a:blipFill>
        </p:spPr>
      </p:sp>
      <p:grpSp>
        <p:nvGrpSpPr>
          <p:cNvPr name="Group 13" id="13"/>
          <p:cNvGrpSpPr/>
          <p:nvPr/>
        </p:nvGrpSpPr>
        <p:grpSpPr>
          <a:xfrm rot="-862888">
            <a:off x="19162549" y="248947"/>
            <a:ext cx="5429187" cy="15382828"/>
            <a:chOff x="0" y="0"/>
            <a:chExt cx="1429909" cy="4051444"/>
          </a:xfrm>
        </p:grpSpPr>
        <p:sp>
          <p:nvSpPr>
            <p:cNvPr name="Freeform 14" id="14"/>
            <p:cNvSpPr/>
            <p:nvPr/>
          </p:nvSpPr>
          <p:spPr>
            <a:xfrm flipH="false" flipV="false" rot="0">
              <a:off x="0" y="0"/>
              <a:ext cx="1429909" cy="4051444"/>
            </a:xfrm>
            <a:custGeom>
              <a:avLst/>
              <a:gdLst/>
              <a:ahLst/>
              <a:cxnLst/>
              <a:rect r="r" b="b" t="t" l="l"/>
              <a:pathLst>
                <a:path h="4051444" w="1429909">
                  <a:moveTo>
                    <a:pt x="0" y="0"/>
                  </a:moveTo>
                  <a:lnTo>
                    <a:pt x="1429909" y="0"/>
                  </a:lnTo>
                  <a:lnTo>
                    <a:pt x="1429909" y="4051444"/>
                  </a:lnTo>
                  <a:lnTo>
                    <a:pt x="0" y="4051444"/>
                  </a:lnTo>
                  <a:close/>
                </a:path>
              </a:pathLst>
            </a:custGeom>
            <a:solidFill>
              <a:srgbClr val="39515A"/>
            </a:solidFill>
          </p:spPr>
        </p:sp>
        <p:sp>
          <p:nvSpPr>
            <p:cNvPr name="TextBox 15" id="15"/>
            <p:cNvSpPr txBox="true"/>
            <p:nvPr/>
          </p:nvSpPr>
          <p:spPr>
            <a:xfrm>
              <a:off x="0" y="-57150"/>
              <a:ext cx="1429909" cy="410859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6" id="16"/>
          <p:cNvGrpSpPr/>
          <p:nvPr/>
        </p:nvGrpSpPr>
        <p:grpSpPr>
          <a:xfrm rot="-852149">
            <a:off x="15900713" y="-2002553"/>
            <a:ext cx="887655" cy="5727768"/>
            <a:chOff x="0" y="0"/>
            <a:chExt cx="233786" cy="1508548"/>
          </a:xfrm>
        </p:grpSpPr>
        <p:sp>
          <p:nvSpPr>
            <p:cNvPr name="Freeform 17" id="17"/>
            <p:cNvSpPr/>
            <p:nvPr/>
          </p:nvSpPr>
          <p:spPr>
            <a:xfrm flipH="false" flipV="false" rot="0">
              <a:off x="0" y="0"/>
              <a:ext cx="233786" cy="1508548"/>
            </a:xfrm>
            <a:custGeom>
              <a:avLst/>
              <a:gdLst/>
              <a:ahLst/>
              <a:cxnLst/>
              <a:rect r="r" b="b" t="t" l="l"/>
              <a:pathLst>
                <a:path h="1508548" w="233786">
                  <a:moveTo>
                    <a:pt x="0" y="0"/>
                  </a:moveTo>
                  <a:lnTo>
                    <a:pt x="233786" y="0"/>
                  </a:lnTo>
                  <a:lnTo>
                    <a:pt x="233786" y="1508548"/>
                  </a:lnTo>
                  <a:lnTo>
                    <a:pt x="0" y="1508548"/>
                  </a:lnTo>
                  <a:close/>
                </a:path>
              </a:pathLst>
            </a:custGeom>
            <a:gradFill rotWithShape="true">
              <a:gsLst>
                <a:gs pos="0">
                  <a:srgbClr val="20989B">
                    <a:alpha val="100000"/>
                  </a:srgbClr>
                </a:gs>
                <a:gs pos="50000">
                  <a:srgbClr val="C3FEFF">
                    <a:alpha val="50500"/>
                  </a:srgbClr>
                </a:gs>
                <a:gs pos="100000">
                  <a:srgbClr val="F9FFFF">
                    <a:alpha val="0"/>
                  </a:srgbClr>
                </a:gs>
              </a:gsLst>
              <a:lin ang="5400000"/>
            </a:gradFill>
          </p:spPr>
        </p:sp>
        <p:sp>
          <p:nvSpPr>
            <p:cNvPr name="TextBox 18" id="18"/>
            <p:cNvSpPr txBox="true"/>
            <p:nvPr/>
          </p:nvSpPr>
          <p:spPr>
            <a:xfrm>
              <a:off x="0" y="-95250"/>
              <a:ext cx="233786" cy="1603798"/>
            </a:xfrm>
            <a:prstGeom prst="rect">
              <a:avLst/>
            </a:prstGeom>
          </p:spPr>
          <p:txBody>
            <a:bodyPr anchor="ctr" rtlCol="false" tIns="50800" lIns="50800" bIns="50800" rIns="50800"/>
            <a:lstStyle/>
            <a:p>
              <a:pPr algn="ctr" marL="0" indent="0" lvl="0">
                <a:lnSpc>
                  <a:spcPts val="5599"/>
                </a:lnSpc>
                <a:spcBef>
                  <a:spcPct val="0"/>
                </a:spcBef>
              </a:pPr>
            </a:p>
          </p:txBody>
        </p:sp>
      </p:grpSp>
      <p:grpSp>
        <p:nvGrpSpPr>
          <p:cNvPr name="Group 19" id="19"/>
          <p:cNvGrpSpPr/>
          <p:nvPr/>
        </p:nvGrpSpPr>
        <p:grpSpPr>
          <a:xfrm rot="0">
            <a:off x="10002986" y="6395071"/>
            <a:ext cx="5115578" cy="825303"/>
            <a:chOff x="0" y="0"/>
            <a:chExt cx="2519038" cy="406400"/>
          </a:xfrm>
        </p:grpSpPr>
        <p:sp>
          <p:nvSpPr>
            <p:cNvPr name="Freeform 20" id="20"/>
            <p:cNvSpPr/>
            <p:nvPr/>
          </p:nvSpPr>
          <p:spPr>
            <a:xfrm flipH="false" flipV="false" rot="0">
              <a:off x="0" y="0"/>
              <a:ext cx="2519038" cy="406400"/>
            </a:xfrm>
            <a:custGeom>
              <a:avLst/>
              <a:gdLst/>
              <a:ahLst/>
              <a:cxnLst/>
              <a:rect r="r" b="b" t="t" l="l"/>
              <a:pathLst>
                <a:path h="406400" w="2519038">
                  <a:moveTo>
                    <a:pt x="2315838" y="0"/>
                  </a:moveTo>
                  <a:cubicBezTo>
                    <a:pt x="2428062" y="0"/>
                    <a:pt x="2519038" y="90976"/>
                    <a:pt x="2519038" y="203200"/>
                  </a:cubicBezTo>
                  <a:cubicBezTo>
                    <a:pt x="2519038" y="315424"/>
                    <a:pt x="2428062" y="406400"/>
                    <a:pt x="2315838" y="406400"/>
                  </a:cubicBezTo>
                  <a:lnTo>
                    <a:pt x="203200" y="406400"/>
                  </a:lnTo>
                  <a:cubicBezTo>
                    <a:pt x="90976" y="406400"/>
                    <a:pt x="0" y="315424"/>
                    <a:pt x="0" y="203200"/>
                  </a:cubicBezTo>
                  <a:cubicBezTo>
                    <a:pt x="0" y="90976"/>
                    <a:pt x="90976" y="0"/>
                    <a:pt x="203200" y="0"/>
                  </a:cubicBezTo>
                  <a:close/>
                </a:path>
              </a:pathLst>
            </a:custGeom>
            <a:solidFill>
              <a:srgbClr val="20989B"/>
            </a:solidFill>
          </p:spPr>
        </p:sp>
        <p:sp>
          <p:nvSpPr>
            <p:cNvPr name="TextBox 21" id="21"/>
            <p:cNvSpPr txBox="true"/>
            <p:nvPr/>
          </p:nvSpPr>
          <p:spPr>
            <a:xfrm>
              <a:off x="0" y="-95250"/>
              <a:ext cx="2519038" cy="501650"/>
            </a:xfrm>
            <a:prstGeom prst="rect">
              <a:avLst/>
            </a:prstGeom>
          </p:spPr>
          <p:txBody>
            <a:bodyPr anchor="ctr" rtlCol="false" tIns="50800" lIns="50800" bIns="50800" rIns="50800"/>
            <a:lstStyle/>
            <a:p>
              <a:pPr algn="ctr" marL="0" indent="0" lvl="0">
                <a:lnSpc>
                  <a:spcPts val="5599"/>
                </a:lnSpc>
              </a:pPr>
            </a:p>
          </p:txBody>
        </p:sp>
      </p:grpSp>
      <p:grpSp>
        <p:nvGrpSpPr>
          <p:cNvPr name="Group 22" id="22"/>
          <p:cNvGrpSpPr/>
          <p:nvPr/>
        </p:nvGrpSpPr>
        <p:grpSpPr>
          <a:xfrm rot="0">
            <a:off x="1028700" y="2595370"/>
            <a:ext cx="4412511" cy="825303"/>
            <a:chOff x="0" y="0"/>
            <a:chExt cx="2172831" cy="406400"/>
          </a:xfrm>
        </p:grpSpPr>
        <p:sp>
          <p:nvSpPr>
            <p:cNvPr name="Freeform 23" id="23"/>
            <p:cNvSpPr/>
            <p:nvPr/>
          </p:nvSpPr>
          <p:spPr>
            <a:xfrm flipH="false" flipV="false" rot="0">
              <a:off x="0" y="0"/>
              <a:ext cx="2172831" cy="406400"/>
            </a:xfrm>
            <a:custGeom>
              <a:avLst/>
              <a:gdLst/>
              <a:ahLst/>
              <a:cxnLst/>
              <a:rect r="r" b="b" t="t" l="l"/>
              <a:pathLst>
                <a:path h="406400" w="2172831">
                  <a:moveTo>
                    <a:pt x="1969631" y="0"/>
                  </a:moveTo>
                  <a:cubicBezTo>
                    <a:pt x="2081855" y="0"/>
                    <a:pt x="2172831" y="90976"/>
                    <a:pt x="2172831" y="203200"/>
                  </a:cubicBezTo>
                  <a:cubicBezTo>
                    <a:pt x="2172831" y="315424"/>
                    <a:pt x="2081855" y="406400"/>
                    <a:pt x="1969631" y="406400"/>
                  </a:cubicBezTo>
                  <a:lnTo>
                    <a:pt x="203200" y="406400"/>
                  </a:lnTo>
                  <a:cubicBezTo>
                    <a:pt x="90976" y="406400"/>
                    <a:pt x="0" y="315424"/>
                    <a:pt x="0" y="203200"/>
                  </a:cubicBezTo>
                  <a:cubicBezTo>
                    <a:pt x="0" y="90976"/>
                    <a:pt x="90976" y="0"/>
                    <a:pt x="203200" y="0"/>
                  </a:cubicBezTo>
                  <a:close/>
                </a:path>
              </a:pathLst>
            </a:custGeom>
            <a:solidFill>
              <a:srgbClr val="20989B"/>
            </a:solidFill>
          </p:spPr>
        </p:sp>
        <p:sp>
          <p:nvSpPr>
            <p:cNvPr name="TextBox 24" id="24"/>
            <p:cNvSpPr txBox="true"/>
            <p:nvPr/>
          </p:nvSpPr>
          <p:spPr>
            <a:xfrm>
              <a:off x="0" y="-95250"/>
              <a:ext cx="2172831" cy="501650"/>
            </a:xfrm>
            <a:prstGeom prst="rect">
              <a:avLst/>
            </a:prstGeom>
          </p:spPr>
          <p:txBody>
            <a:bodyPr anchor="ctr" rtlCol="false" tIns="50800" lIns="50800" bIns="50800" rIns="50800"/>
            <a:lstStyle/>
            <a:p>
              <a:pPr algn="ctr" marL="0" indent="0" lvl="0">
                <a:lnSpc>
                  <a:spcPts val="5599"/>
                </a:lnSpc>
              </a:pPr>
            </a:p>
          </p:txBody>
        </p:sp>
      </p:grpSp>
      <p:grpSp>
        <p:nvGrpSpPr>
          <p:cNvPr name="Group 25" id="25"/>
          <p:cNvGrpSpPr/>
          <p:nvPr/>
        </p:nvGrpSpPr>
        <p:grpSpPr>
          <a:xfrm rot="0">
            <a:off x="9869664" y="2538499"/>
            <a:ext cx="5115578" cy="825303"/>
            <a:chOff x="0" y="0"/>
            <a:chExt cx="2519038" cy="406400"/>
          </a:xfrm>
        </p:grpSpPr>
        <p:sp>
          <p:nvSpPr>
            <p:cNvPr name="Freeform 26" id="26"/>
            <p:cNvSpPr/>
            <p:nvPr/>
          </p:nvSpPr>
          <p:spPr>
            <a:xfrm flipH="false" flipV="false" rot="0">
              <a:off x="0" y="0"/>
              <a:ext cx="2519038" cy="406400"/>
            </a:xfrm>
            <a:custGeom>
              <a:avLst/>
              <a:gdLst/>
              <a:ahLst/>
              <a:cxnLst/>
              <a:rect r="r" b="b" t="t" l="l"/>
              <a:pathLst>
                <a:path h="406400" w="2519038">
                  <a:moveTo>
                    <a:pt x="2315838" y="0"/>
                  </a:moveTo>
                  <a:cubicBezTo>
                    <a:pt x="2428062" y="0"/>
                    <a:pt x="2519038" y="90976"/>
                    <a:pt x="2519038" y="203200"/>
                  </a:cubicBezTo>
                  <a:cubicBezTo>
                    <a:pt x="2519038" y="315424"/>
                    <a:pt x="2428062" y="406400"/>
                    <a:pt x="2315838" y="406400"/>
                  </a:cubicBezTo>
                  <a:lnTo>
                    <a:pt x="203200" y="406400"/>
                  </a:lnTo>
                  <a:cubicBezTo>
                    <a:pt x="90976" y="406400"/>
                    <a:pt x="0" y="315424"/>
                    <a:pt x="0" y="203200"/>
                  </a:cubicBezTo>
                  <a:cubicBezTo>
                    <a:pt x="0" y="90976"/>
                    <a:pt x="90976" y="0"/>
                    <a:pt x="203200" y="0"/>
                  </a:cubicBezTo>
                  <a:close/>
                </a:path>
              </a:pathLst>
            </a:custGeom>
            <a:solidFill>
              <a:srgbClr val="20989B"/>
            </a:solidFill>
          </p:spPr>
        </p:sp>
        <p:sp>
          <p:nvSpPr>
            <p:cNvPr name="TextBox 27" id="27"/>
            <p:cNvSpPr txBox="true"/>
            <p:nvPr/>
          </p:nvSpPr>
          <p:spPr>
            <a:xfrm>
              <a:off x="0" y="-95250"/>
              <a:ext cx="2519038" cy="501650"/>
            </a:xfrm>
            <a:prstGeom prst="rect">
              <a:avLst/>
            </a:prstGeom>
          </p:spPr>
          <p:txBody>
            <a:bodyPr anchor="ctr" rtlCol="false" tIns="50800" lIns="50800" bIns="50800" rIns="50800"/>
            <a:lstStyle/>
            <a:p>
              <a:pPr algn="ctr" marL="0" indent="0" lvl="0">
                <a:lnSpc>
                  <a:spcPts val="5599"/>
                </a:lnSpc>
              </a:pPr>
            </a:p>
          </p:txBody>
        </p:sp>
      </p:grpSp>
      <p:grpSp>
        <p:nvGrpSpPr>
          <p:cNvPr name="Group 28" id="28"/>
          <p:cNvGrpSpPr/>
          <p:nvPr/>
        </p:nvGrpSpPr>
        <p:grpSpPr>
          <a:xfrm rot="0">
            <a:off x="705618" y="3588582"/>
            <a:ext cx="7730072" cy="5182327"/>
            <a:chOff x="0" y="0"/>
            <a:chExt cx="2035904" cy="1364893"/>
          </a:xfrm>
        </p:grpSpPr>
        <p:sp>
          <p:nvSpPr>
            <p:cNvPr name="Freeform 29" id="29"/>
            <p:cNvSpPr/>
            <p:nvPr/>
          </p:nvSpPr>
          <p:spPr>
            <a:xfrm flipH="false" flipV="false" rot="0">
              <a:off x="0" y="0"/>
              <a:ext cx="2035904" cy="1364893"/>
            </a:xfrm>
            <a:custGeom>
              <a:avLst/>
              <a:gdLst/>
              <a:ahLst/>
              <a:cxnLst/>
              <a:rect r="r" b="b" t="t" l="l"/>
              <a:pathLst>
                <a:path h="1364893" w="2035904">
                  <a:moveTo>
                    <a:pt x="51078" y="0"/>
                  </a:moveTo>
                  <a:lnTo>
                    <a:pt x="1984826" y="0"/>
                  </a:lnTo>
                  <a:cubicBezTo>
                    <a:pt x="1998372" y="0"/>
                    <a:pt x="2011364" y="5381"/>
                    <a:pt x="2020943" y="14960"/>
                  </a:cubicBezTo>
                  <a:cubicBezTo>
                    <a:pt x="2030522" y="24539"/>
                    <a:pt x="2035904" y="37531"/>
                    <a:pt x="2035904" y="51078"/>
                  </a:cubicBezTo>
                  <a:lnTo>
                    <a:pt x="2035904" y="1313815"/>
                  </a:lnTo>
                  <a:cubicBezTo>
                    <a:pt x="2035904" y="1342024"/>
                    <a:pt x="2013035" y="1364893"/>
                    <a:pt x="1984826" y="1364893"/>
                  </a:cubicBezTo>
                  <a:lnTo>
                    <a:pt x="51078" y="1364893"/>
                  </a:lnTo>
                  <a:cubicBezTo>
                    <a:pt x="22868" y="1364893"/>
                    <a:pt x="0" y="1342024"/>
                    <a:pt x="0" y="1313815"/>
                  </a:cubicBezTo>
                  <a:lnTo>
                    <a:pt x="0" y="51078"/>
                  </a:lnTo>
                  <a:cubicBezTo>
                    <a:pt x="0" y="22868"/>
                    <a:pt x="22868" y="0"/>
                    <a:pt x="51078" y="0"/>
                  </a:cubicBezTo>
                  <a:close/>
                </a:path>
              </a:pathLst>
            </a:custGeom>
            <a:solidFill>
              <a:srgbClr val="EFEEFB"/>
            </a:solidFill>
          </p:spPr>
        </p:sp>
        <p:sp>
          <p:nvSpPr>
            <p:cNvPr name="TextBox 30" id="30"/>
            <p:cNvSpPr txBox="true"/>
            <p:nvPr/>
          </p:nvSpPr>
          <p:spPr>
            <a:xfrm>
              <a:off x="0" y="-95250"/>
              <a:ext cx="2035904" cy="1460143"/>
            </a:xfrm>
            <a:prstGeom prst="rect">
              <a:avLst/>
            </a:prstGeom>
          </p:spPr>
          <p:txBody>
            <a:bodyPr anchor="ctr" rtlCol="false" tIns="50800" lIns="50800" bIns="50800" rIns="50800"/>
            <a:lstStyle/>
            <a:p>
              <a:pPr algn="ctr">
                <a:lnSpc>
                  <a:spcPts val="5599"/>
                </a:lnSpc>
              </a:pPr>
            </a:p>
          </p:txBody>
        </p:sp>
      </p:grpSp>
      <p:sp>
        <p:nvSpPr>
          <p:cNvPr name="TextBox 31" id="31"/>
          <p:cNvSpPr txBox="true"/>
          <p:nvPr/>
        </p:nvSpPr>
        <p:spPr>
          <a:xfrm rot="0">
            <a:off x="5854901" y="1639978"/>
            <a:ext cx="4323268" cy="698500"/>
          </a:xfrm>
          <a:prstGeom prst="rect">
            <a:avLst/>
          </a:prstGeom>
        </p:spPr>
        <p:txBody>
          <a:bodyPr anchor="t" rtlCol="false" tIns="0" lIns="0" bIns="0" rIns="0">
            <a:spAutoFit/>
          </a:bodyPr>
          <a:lstStyle/>
          <a:p>
            <a:pPr algn="l" marL="0" indent="0" lvl="0">
              <a:lnSpc>
                <a:spcPts val="5000"/>
              </a:lnSpc>
            </a:pPr>
            <a:r>
              <a:rPr lang="en-US" b="true" sz="5000" spc="-210">
                <a:solidFill>
                  <a:srgbClr val="008080"/>
                </a:solidFill>
                <a:latin typeface="Times New Roman Bold"/>
                <a:ea typeface="Times New Roman Bold"/>
                <a:cs typeface="Times New Roman Bold"/>
                <a:sym typeface="Times New Roman Bold"/>
              </a:rPr>
              <a:t>Lý do chọn đề tài</a:t>
            </a:r>
          </a:p>
        </p:txBody>
      </p:sp>
      <p:sp>
        <p:nvSpPr>
          <p:cNvPr name="TextBox 32" id="32"/>
          <p:cNvSpPr txBox="true"/>
          <p:nvPr/>
        </p:nvSpPr>
        <p:spPr>
          <a:xfrm rot="0">
            <a:off x="8923501" y="3744802"/>
            <a:ext cx="9017554" cy="2108200"/>
          </a:xfrm>
          <a:prstGeom prst="rect">
            <a:avLst/>
          </a:prstGeom>
        </p:spPr>
        <p:txBody>
          <a:bodyPr anchor="t" rtlCol="false" tIns="0" lIns="0" bIns="0" rIns="0">
            <a:spAutoFit/>
          </a:bodyPr>
          <a:lstStyle/>
          <a:p>
            <a:pPr algn="l" marL="0" indent="0" lvl="0">
              <a:lnSpc>
                <a:spcPts val="5599"/>
              </a:lnSpc>
              <a:spcBef>
                <a:spcPct val="0"/>
              </a:spcBef>
            </a:pPr>
            <a:r>
              <a:rPr lang="en-US" sz="3999">
                <a:solidFill>
                  <a:srgbClr val="008080"/>
                </a:solidFill>
                <a:latin typeface="Times New Roman"/>
                <a:ea typeface="Times New Roman"/>
                <a:cs typeface="Times New Roman"/>
                <a:sym typeface="Times New Roman"/>
              </a:rPr>
              <a:t>Đề tài phù hợp để vận dụng kiến thức lập trình web: xử lý form, kết nối database, xây dựng giao diện và trang quản trị.</a:t>
            </a:r>
          </a:p>
        </p:txBody>
      </p:sp>
      <p:sp>
        <p:nvSpPr>
          <p:cNvPr name="TextBox 33" id="33"/>
          <p:cNvSpPr txBox="true"/>
          <p:nvPr/>
        </p:nvSpPr>
        <p:spPr>
          <a:xfrm rot="0">
            <a:off x="1028700" y="3744802"/>
            <a:ext cx="7266183" cy="4927600"/>
          </a:xfrm>
          <a:prstGeom prst="rect">
            <a:avLst/>
          </a:prstGeom>
        </p:spPr>
        <p:txBody>
          <a:bodyPr anchor="t" rtlCol="false" tIns="0" lIns="0" bIns="0" rIns="0">
            <a:spAutoFit/>
          </a:bodyPr>
          <a:lstStyle/>
          <a:p>
            <a:pPr algn="l" marL="0" indent="0" lvl="0">
              <a:lnSpc>
                <a:spcPts val="5599"/>
              </a:lnSpc>
              <a:spcBef>
                <a:spcPct val="0"/>
              </a:spcBef>
            </a:pPr>
            <a:r>
              <a:rPr lang="en-US" sz="3999">
                <a:solidFill>
                  <a:srgbClr val="008080"/>
                </a:solidFill>
                <a:latin typeface="Times New Roman"/>
                <a:ea typeface="Times New Roman"/>
                <a:cs typeface="Times New Roman"/>
                <a:sym typeface="Times New Roman"/>
              </a:rPr>
              <a:t>Nhu cầu tra cứu điểm chuẩn đại học khá phổ biến trong học sinh, phụ huynh và giáo viên mỗi mùa tuyển sinh.</a:t>
            </a:r>
          </a:p>
          <a:p>
            <a:pPr algn="l" marL="0" indent="0" lvl="0">
              <a:lnSpc>
                <a:spcPts val="5599"/>
              </a:lnSpc>
              <a:spcBef>
                <a:spcPct val="0"/>
              </a:spcBef>
            </a:pPr>
            <a:r>
              <a:rPr lang="en-US" sz="3999">
                <a:solidFill>
                  <a:srgbClr val="008080"/>
                </a:solidFill>
                <a:latin typeface="Times New Roman"/>
                <a:ea typeface="Times New Roman"/>
                <a:cs typeface="Times New Roman"/>
                <a:sym typeface="Times New Roman"/>
              </a:rPr>
              <a:t>Dữ liệu điểm chuẩn cần được tìm kiếm và hiển thị rõ ràng, dễ tiếp cận và trực quan cho người dùng.</a:t>
            </a:r>
          </a:p>
        </p:txBody>
      </p:sp>
      <p:sp>
        <p:nvSpPr>
          <p:cNvPr name="TextBox 34" id="34"/>
          <p:cNvSpPr txBox="true"/>
          <p:nvPr/>
        </p:nvSpPr>
        <p:spPr>
          <a:xfrm rot="0">
            <a:off x="9144000" y="7429924"/>
            <a:ext cx="8797054" cy="2108200"/>
          </a:xfrm>
          <a:prstGeom prst="rect">
            <a:avLst/>
          </a:prstGeom>
        </p:spPr>
        <p:txBody>
          <a:bodyPr anchor="t" rtlCol="false" tIns="0" lIns="0" bIns="0" rIns="0">
            <a:spAutoFit/>
          </a:bodyPr>
          <a:lstStyle/>
          <a:p>
            <a:pPr algn="l" marL="0" indent="0" lvl="0">
              <a:lnSpc>
                <a:spcPts val="5599"/>
              </a:lnSpc>
              <a:spcBef>
                <a:spcPct val="0"/>
              </a:spcBef>
            </a:pPr>
            <a:r>
              <a:rPr lang="en-US" sz="3999">
                <a:solidFill>
                  <a:srgbClr val="008080"/>
                </a:solidFill>
                <a:latin typeface="Times New Roman"/>
                <a:ea typeface="Times New Roman"/>
                <a:cs typeface="Times New Roman"/>
                <a:sym typeface="Times New Roman"/>
              </a:rPr>
              <a:t>Có cả phần giao diện, xử lý form, database và quản trị - bao quát toàn bộ kiến thức môn Lập trình Web một cách thực tế.</a:t>
            </a:r>
          </a:p>
        </p:txBody>
      </p:sp>
      <p:sp>
        <p:nvSpPr>
          <p:cNvPr name="TextBox 35" id="35"/>
          <p:cNvSpPr txBox="true"/>
          <p:nvPr/>
        </p:nvSpPr>
        <p:spPr>
          <a:xfrm rot="0">
            <a:off x="10432904" y="6590045"/>
            <a:ext cx="4255740" cy="607060"/>
          </a:xfrm>
          <a:prstGeom prst="rect">
            <a:avLst/>
          </a:prstGeom>
        </p:spPr>
        <p:txBody>
          <a:bodyPr anchor="t" rtlCol="false" tIns="0" lIns="0" bIns="0" rIns="0">
            <a:spAutoFit/>
          </a:bodyPr>
          <a:lstStyle/>
          <a:p>
            <a:pPr algn="ctr" marL="0" indent="0" lvl="0">
              <a:lnSpc>
                <a:spcPts val="4519"/>
              </a:lnSpc>
            </a:pPr>
            <a:r>
              <a:rPr lang="en-US" b="true" sz="3999" spc="-167">
                <a:solidFill>
                  <a:srgbClr val="FFFFFF"/>
                </a:solidFill>
                <a:latin typeface="Times New Roman Bold"/>
                <a:ea typeface="Times New Roman Bold"/>
                <a:cs typeface="Times New Roman Bold"/>
                <a:sym typeface="Times New Roman Bold"/>
              </a:rPr>
              <a:t>Tính thực tiễn</a:t>
            </a:r>
          </a:p>
        </p:txBody>
      </p:sp>
      <p:sp>
        <p:nvSpPr>
          <p:cNvPr name="TextBox 36" id="36"/>
          <p:cNvSpPr txBox="true"/>
          <p:nvPr/>
        </p:nvSpPr>
        <p:spPr>
          <a:xfrm rot="0">
            <a:off x="1458619" y="2790344"/>
            <a:ext cx="3552673" cy="607060"/>
          </a:xfrm>
          <a:prstGeom prst="rect">
            <a:avLst/>
          </a:prstGeom>
        </p:spPr>
        <p:txBody>
          <a:bodyPr anchor="t" rtlCol="false" tIns="0" lIns="0" bIns="0" rIns="0">
            <a:spAutoFit/>
          </a:bodyPr>
          <a:lstStyle/>
          <a:p>
            <a:pPr algn="ctr" marL="0" indent="0" lvl="0">
              <a:lnSpc>
                <a:spcPts val="4519"/>
              </a:lnSpc>
            </a:pPr>
            <a:r>
              <a:rPr lang="en-US" b="true" sz="3999" spc="-167">
                <a:solidFill>
                  <a:srgbClr val="FFFFFF"/>
                </a:solidFill>
                <a:latin typeface="Times New Roman Bold"/>
                <a:ea typeface="Times New Roman Bold"/>
                <a:cs typeface="Times New Roman Bold"/>
                <a:sym typeface="Times New Roman Bold"/>
              </a:rPr>
              <a:t>Nhu cầu phổ biến</a:t>
            </a:r>
          </a:p>
        </p:txBody>
      </p:sp>
      <p:sp>
        <p:nvSpPr>
          <p:cNvPr name="TextBox 37" id="37"/>
          <p:cNvSpPr txBox="true"/>
          <p:nvPr/>
        </p:nvSpPr>
        <p:spPr>
          <a:xfrm rot="0">
            <a:off x="10075215" y="2723503"/>
            <a:ext cx="4412511" cy="607060"/>
          </a:xfrm>
          <a:prstGeom prst="rect">
            <a:avLst/>
          </a:prstGeom>
        </p:spPr>
        <p:txBody>
          <a:bodyPr anchor="t" rtlCol="false" tIns="0" lIns="0" bIns="0" rIns="0">
            <a:spAutoFit/>
          </a:bodyPr>
          <a:lstStyle/>
          <a:p>
            <a:pPr algn="ctr" marL="0" indent="0" lvl="0">
              <a:lnSpc>
                <a:spcPts val="4519"/>
              </a:lnSpc>
            </a:pPr>
            <a:r>
              <a:rPr lang="en-US" b="true" sz="3999" spc="-167">
                <a:solidFill>
                  <a:srgbClr val="FFFFFF"/>
                </a:solidFill>
                <a:latin typeface="Times New Roman Bold"/>
                <a:ea typeface="Times New Roman Bold"/>
                <a:cs typeface="Times New Roman Bold"/>
                <a:sym typeface="Times New Roman Bold"/>
              </a:rPr>
              <a:t>Phù hợp học tập</a:t>
            </a:r>
          </a:p>
        </p:txBody>
      </p:sp>
    </p:spTree>
  </p:cSld>
  <p:clrMapOvr>
    <a:masterClrMapping/>
  </p:clrMapOvr>
  <p:transition spd="fast">
    <p:cover dir="l"/>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8016535" y="342805"/>
            <a:ext cx="10271465" cy="1261095"/>
            <a:chOff x="0" y="0"/>
            <a:chExt cx="13695286" cy="1681460"/>
          </a:xfrm>
        </p:grpSpPr>
        <p:sp>
          <p:nvSpPr>
            <p:cNvPr name="Freeform 4" id="4"/>
            <p:cNvSpPr/>
            <p:nvPr/>
          </p:nvSpPr>
          <p:spPr>
            <a:xfrm flipH="false" flipV="false" rot="0">
              <a:off x="0" y="0"/>
              <a:ext cx="13695283" cy="1681465"/>
            </a:xfrm>
            <a:custGeom>
              <a:avLst/>
              <a:gdLst/>
              <a:ahLst/>
              <a:cxnLst/>
              <a:rect r="r" b="b" t="t" l="l"/>
              <a:pathLst>
                <a:path h="1681465" w="13695283">
                  <a:moveTo>
                    <a:pt x="0" y="0"/>
                  </a:moveTo>
                  <a:lnTo>
                    <a:pt x="13695283" y="0"/>
                  </a:lnTo>
                  <a:lnTo>
                    <a:pt x="13695283" y="1681465"/>
                  </a:lnTo>
                  <a:lnTo>
                    <a:pt x="0" y="1681465"/>
                  </a:lnTo>
                  <a:close/>
                </a:path>
              </a:pathLst>
            </a:custGeom>
            <a:blipFill>
              <a:blip r:embed="rId3">
                <a:alphaModFix amt="0"/>
              </a:blip>
              <a:stretch>
                <a:fillRect l="0" t="-117720" r="0" b="-99684"/>
              </a:stretch>
            </a:blipFill>
          </p:spPr>
        </p:sp>
        <p:sp>
          <p:nvSpPr>
            <p:cNvPr name="TextBox 5" id="5"/>
            <p:cNvSpPr txBox="true"/>
            <p:nvPr/>
          </p:nvSpPr>
          <p:spPr>
            <a:xfrm>
              <a:off x="0" y="-28575"/>
              <a:ext cx="13695286" cy="1710035"/>
            </a:xfrm>
            <a:prstGeom prst="rect">
              <a:avLst/>
            </a:prstGeom>
          </p:spPr>
          <p:txBody>
            <a:bodyPr anchor="ctr" rtlCol="false" tIns="0" lIns="0" bIns="0" rIns="0"/>
            <a:lstStyle/>
            <a:p>
              <a:pPr algn="ctr">
                <a:lnSpc>
                  <a:spcPts val="4320"/>
                </a:lnSpc>
              </a:pPr>
              <a:r>
                <a:rPr lang="en-US" sz="3600" b="true">
                  <a:solidFill>
                    <a:srgbClr val="008080"/>
                  </a:solidFill>
                  <a:latin typeface="Times New Roman Bold"/>
                  <a:ea typeface="Times New Roman Bold"/>
                  <a:cs typeface="Times New Roman Bold"/>
                  <a:sym typeface="Times New Roman Bold"/>
                </a:rPr>
                <a:t>TRƯỜNG ĐẠI HỌC GIAO THÔNG VẬN TẢI </a:t>
              </a:r>
            </a:p>
            <a:p>
              <a:pPr algn="ctr">
                <a:lnSpc>
                  <a:spcPts val="4320"/>
                </a:lnSpc>
              </a:pPr>
              <a:r>
                <a:rPr lang="en-US" sz="3600" b="true">
                  <a:solidFill>
                    <a:srgbClr val="008080"/>
                  </a:solidFill>
                  <a:latin typeface="Times New Roman Bold"/>
                  <a:ea typeface="Times New Roman Bold"/>
                  <a:cs typeface="Times New Roman Bold"/>
                  <a:sym typeface="Times New Roman Bold"/>
                </a:rPr>
                <a:t>THÀNH PHỐ HỒ CHÍ MINH</a:t>
              </a:r>
            </a:p>
          </p:txBody>
        </p:sp>
      </p:grpSp>
      <p:sp>
        <p:nvSpPr>
          <p:cNvPr name="Freeform 6" id="6"/>
          <p:cNvSpPr/>
          <p:nvPr/>
        </p:nvSpPr>
        <p:spPr>
          <a:xfrm flipH="false" flipV="true" rot="-6270710">
            <a:off x="11455062" y="4514251"/>
            <a:ext cx="13353097" cy="404258"/>
          </a:xfrm>
          <a:custGeom>
            <a:avLst/>
            <a:gdLst/>
            <a:ahLst/>
            <a:cxnLst/>
            <a:rect r="r" b="b" t="t" l="l"/>
            <a:pathLst>
              <a:path h="404258" w="13353097">
                <a:moveTo>
                  <a:pt x="0" y="404258"/>
                </a:moveTo>
                <a:lnTo>
                  <a:pt x="13353096" y="404258"/>
                </a:lnTo>
                <a:lnTo>
                  <a:pt x="13353096" y="0"/>
                </a:lnTo>
                <a:lnTo>
                  <a:pt x="0" y="0"/>
                </a:lnTo>
                <a:lnTo>
                  <a:pt x="0" y="404258"/>
                </a:lnTo>
                <a:close/>
              </a:path>
            </a:pathLst>
          </a:custGeom>
          <a:blipFill>
            <a:blip r:embed="rId4"/>
            <a:stretch>
              <a:fillRect l="0" t="-1843398" r="0" b="0"/>
            </a:stretch>
          </a:blipFill>
        </p:spPr>
      </p:sp>
      <p:grpSp>
        <p:nvGrpSpPr>
          <p:cNvPr name="Group 7" id="7"/>
          <p:cNvGrpSpPr/>
          <p:nvPr/>
        </p:nvGrpSpPr>
        <p:grpSpPr>
          <a:xfrm rot="0">
            <a:off x="1028700" y="4105472"/>
            <a:ext cx="5237623" cy="825303"/>
            <a:chOff x="0" y="0"/>
            <a:chExt cx="2579136" cy="406400"/>
          </a:xfrm>
        </p:grpSpPr>
        <p:sp>
          <p:nvSpPr>
            <p:cNvPr name="Freeform 8" id="8"/>
            <p:cNvSpPr/>
            <p:nvPr/>
          </p:nvSpPr>
          <p:spPr>
            <a:xfrm flipH="false" flipV="false" rot="0">
              <a:off x="0" y="0"/>
              <a:ext cx="2579136" cy="406400"/>
            </a:xfrm>
            <a:custGeom>
              <a:avLst/>
              <a:gdLst/>
              <a:ahLst/>
              <a:cxnLst/>
              <a:rect r="r" b="b" t="t" l="l"/>
              <a:pathLst>
                <a:path h="406400" w="2579136">
                  <a:moveTo>
                    <a:pt x="2375936" y="0"/>
                  </a:moveTo>
                  <a:cubicBezTo>
                    <a:pt x="2488161" y="0"/>
                    <a:pt x="2579136" y="90976"/>
                    <a:pt x="2579136" y="203200"/>
                  </a:cubicBezTo>
                  <a:cubicBezTo>
                    <a:pt x="2579136" y="315424"/>
                    <a:pt x="2488161" y="406400"/>
                    <a:pt x="2375936" y="406400"/>
                  </a:cubicBezTo>
                  <a:lnTo>
                    <a:pt x="203200" y="406400"/>
                  </a:lnTo>
                  <a:cubicBezTo>
                    <a:pt x="90976" y="406400"/>
                    <a:pt x="0" y="315424"/>
                    <a:pt x="0" y="203200"/>
                  </a:cubicBezTo>
                  <a:cubicBezTo>
                    <a:pt x="0" y="90976"/>
                    <a:pt x="90976" y="0"/>
                    <a:pt x="203200" y="0"/>
                  </a:cubicBezTo>
                  <a:close/>
                </a:path>
              </a:pathLst>
            </a:custGeom>
            <a:solidFill>
              <a:srgbClr val="20989B"/>
            </a:solidFill>
          </p:spPr>
        </p:sp>
        <p:sp>
          <p:nvSpPr>
            <p:cNvPr name="TextBox 9" id="9"/>
            <p:cNvSpPr txBox="true"/>
            <p:nvPr/>
          </p:nvSpPr>
          <p:spPr>
            <a:xfrm>
              <a:off x="0" y="-95250"/>
              <a:ext cx="2579136" cy="501650"/>
            </a:xfrm>
            <a:prstGeom prst="rect">
              <a:avLst/>
            </a:prstGeom>
          </p:spPr>
          <p:txBody>
            <a:bodyPr anchor="ctr" rtlCol="false" tIns="50800" lIns="50800" bIns="50800" rIns="50800"/>
            <a:lstStyle/>
            <a:p>
              <a:pPr algn="ctr" marL="0" indent="0" lvl="0">
                <a:lnSpc>
                  <a:spcPts val="5599"/>
                </a:lnSpc>
              </a:pPr>
            </a:p>
          </p:txBody>
        </p:sp>
      </p:grpSp>
      <p:grpSp>
        <p:nvGrpSpPr>
          <p:cNvPr name="Group 10" id="10"/>
          <p:cNvGrpSpPr/>
          <p:nvPr/>
        </p:nvGrpSpPr>
        <p:grpSpPr>
          <a:xfrm rot="0">
            <a:off x="6445146" y="4105472"/>
            <a:ext cx="5186805" cy="825303"/>
            <a:chOff x="0" y="0"/>
            <a:chExt cx="2554112" cy="406400"/>
          </a:xfrm>
        </p:grpSpPr>
        <p:sp>
          <p:nvSpPr>
            <p:cNvPr name="Freeform 11" id="11"/>
            <p:cNvSpPr/>
            <p:nvPr/>
          </p:nvSpPr>
          <p:spPr>
            <a:xfrm flipH="false" flipV="false" rot="0">
              <a:off x="0" y="0"/>
              <a:ext cx="2554112" cy="406400"/>
            </a:xfrm>
            <a:custGeom>
              <a:avLst/>
              <a:gdLst/>
              <a:ahLst/>
              <a:cxnLst/>
              <a:rect r="r" b="b" t="t" l="l"/>
              <a:pathLst>
                <a:path h="406400" w="2554112">
                  <a:moveTo>
                    <a:pt x="2350912" y="0"/>
                  </a:moveTo>
                  <a:cubicBezTo>
                    <a:pt x="2463137" y="0"/>
                    <a:pt x="2554112" y="90976"/>
                    <a:pt x="2554112" y="203200"/>
                  </a:cubicBezTo>
                  <a:cubicBezTo>
                    <a:pt x="2554112" y="315424"/>
                    <a:pt x="2463137" y="406400"/>
                    <a:pt x="2350912" y="406400"/>
                  </a:cubicBezTo>
                  <a:lnTo>
                    <a:pt x="203200" y="406400"/>
                  </a:lnTo>
                  <a:cubicBezTo>
                    <a:pt x="90976" y="406400"/>
                    <a:pt x="0" y="315424"/>
                    <a:pt x="0" y="203200"/>
                  </a:cubicBezTo>
                  <a:cubicBezTo>
                    <a:pt x="0" y="90976"/>
                    <a:pt x="90976" y="0"/>
                    <a:pt x="203200" y="0"/>
                  </a:cubicBezTo>
                  <a:close/>
                </a:path>
              </a:pathLst>
            </a:custGeom>
            <a:solidFill>
              <a:srgbClr val="20989B"/>
            </a:solidFill>
          </p:spPr>
        </p:sp>
        <p:sp>
          <p:nvSpPr>
            <p:cNvPr name="TextBox 12" id="12"/>
            <p:cNvSpPr txBox="true"/>
            <p:nvPr/>
          </p:nvSpPr>
          <p:spPr>
            <a:xfrm>
              <a:off x="0" y="-95250"/>
              <a:ext cx="2554112" cy="501650"/>
            </a:xfrm>
            <a:prstGeom prst="rect">
              <a:avLst/>
            </a:prstGeom>
          </p:spPr>
          <p:txBody>
            <a:bodyPr anchor="ctr" rtlCol="false" tIns="50800" lIns="50800" bIns="50800" rIns="50800"/>
            <a:lstStyle/>
            <a:p>
              <a:pPr algn="ctr" marL="0" indent="0" lvl="0">
                <a:lnSpc>
                  <a:spcPts val="5599"/>
                </a:lnSpc>
              </a:pPr>
            </a:p>
          </p:txBody>
        </p:sp>
      </p:grpSp>
      <p:grpSp>
        <p:nvGrpSpPr>
          <p:cNvPr name="Group 13" id="13"/>
          <p:cNvGrpSpPr/>
          <p:nvPr/>
        </p:nvGrpSpPr>
        <p:grpSpPr>
          <a:xfrm rot="0">
            <a:off x="11926609" y="4105472"/>
            <a:ext cx="5774041" cy="825303"/>
            <a:chOff x="0" y="0"/>
            <a:chExt cx="2843282" cy="406400"/>
          </a:xfrm>
        </p:grpSpPr>
        <p:sp>
          <p:nvSpPr>
            <p:cNvPr name="Freeform 14" id="14"/>
            <p:cNvSpPr/>
            <p:nvPr/>
          </p:nvSpPr>
          <p:spPr>
            <a:xfrm flipH="false" flipV="false" rot="0">
              <a:off x="0" y="0"/>
              <a:ext cx="2843282" cy="406400"/>
            </a:xfrm>
            <a:custGeom>
              <a:avLst/>
              <a:gdLst/>
              <a:ahLst/>
              <a:cxnLst/>
              <a:rect r="r" b="b" t="t" l="l"/>
              <a:pathLst>
                <a:path h="406400" w="2843282">
                  <a:moveTo>
                    <a:pt x="2640082" y="0"/>
                  </a:moveTo>
                  <a:cubicBezTo>
                    <a:pt x="2752306" y="0"/>
                    <a:pt x="2843282" y="90976"/>
                    <a:pt x="2843282" y="203200"/>
                  </a:cubicBezTo>
                  <a:cubicBezTo>
                    <a:pt x="2843282" y="315424"/>
                    <a:pt x="2752306" y="406400"/>
                    <a:pt x="2640082" y="406400"/>
                  </a:cubicBezTo>
                  <a:lnTo>
                    <a:pt x="203200" y="406400"/>
                  </a:lnTo>
                  <a:cubicBezTo>
                    <a:pt x="90976" y="406400"/>
                    <a:pt x="0" y="315424"/>
                    <a:pt x="0" y="203200"/>
                  </a:cubicBezTo>
                  <a:cubicBezTo>
                    <a:pt x="0" y="90976"/>
                    <a:pt x="90976" y="0"/>
                    <a:pt x="203200" y="0"/>
                  </a:cubicBezTo>
                  <a:close/>
                </a:path>
              </a:pathLst>
            </a:custGeom>
            <a:solidFill>
              <a:srgbClr val="20989B"/>
            </a:solidFill>
          </p:spPr>
        </p:sp>
        <p:sp>
          <p:nvSpPr>
            <p:cNvPr name="TextBox 15" id="15"/>
            <p:cNvSpPr txBox="true"/>
            <p:nvPr/>
          </p:nvSpPr>
          <p:spPr>
            <a:xfrm>
              <a:off x="0" y="-95250"/>
              <a:ext cx="2843282" cy="501650"/>
            </a:xfrm>
            <a:prstGeom prst="rect">
              <a:avLst/>
            </a:prstGeom>
          </p:spPr>
          <p:txBody>
            <a:bodyPr anchor="ctr" rtlCol="false" tIns="50800" lIns="50800" bIns="50800" rIns="50800"/>
            <a:lstStyle/>
            <a:p>
              <a:pPr algn="ctr" marL="0" indent="0" lvl="0">
                <a:lnSpc>
                  <a:spcPts val="5599"/>
                </a:lnSpc>
              </a:pPr>
            </a:p>
          </p:txBody>
        </p:sp>
      </p:grpSp>
      <p:sp>
        <p:nvSpPr>
          <p:cNvPr name="Freeform 16" id="16"/>
          <p:cNvSpPr/>
          <p:nvPr/>
        </p:nvSpPr>
        <p:spPr>
          <a:xfrm flipH="false" flipV="false" rot="0">
            <a:off x="2926646" y="2980434"/>
            <a:ext cx="1251516" cy="1001212"/>
          </a:xfrm>
          <a:custGeom>
            <a:avLst/>
            <a:gdLst/>
            <a:ahLst/>
            <a:cxnLst/>
            <a:rect r="r" b="b" t="t" l="l"/>
            <a:pathLst>
              <a:path h="1001212" w="1251516">
                <a:moveTo>
                  <a:pt x="0" y="0"/>
                </a:moveTo>
                <a:lnTo>
                  <a:pt x="1251516" y="0"/>
                </a:lnTo>
                <a:lnTo>
                  <a:pt x="1251516" y="1001213"/>
                </a:lnTo>
                <a:lnTo>
                  <a:pt x="0" y="1001213"/>
                </a:lnTo>
                <a:lnTo>
                  <a:pt x="0" y="0"/>
                </a:lnTo>
                <a:close/>
              </a:path>
            </a:pathLst>
          </a:custGeom>
          <a:blipFill>
            <a:blip r:embed="rId5"/>
            <a:stretch>
              <a:fillRect l="0" t="0" r="0" b="0"/>
            </a:stretch>
          </a:blipFill>
        </p:spPr>
      </p:sp>
      <p:sp>
        <p:nvSpPr>
          <p:cNvPr name="Freeform 17" id="17"/>
          <p:cNvSpPr/>
          <p:nvPr/>
        </p:nvSpPr>
        <p:spPr>
          <a:xfrm flipH="false" flipV="false" rot="0">
            <a:off x="8378687" y="2922595"/>
            <a:ext cx="886458" cy="975103"/>
          </a:xfrm>
          <a:custGeom>
            <a:avLst/>
            <a:gdLst/>
            <a:ahLst/>
            <a:cxnLst/>
            <a:rect r="r" b="b" t="t" l="l"/>
            <a:pathLst>
              <a:path h="975103" w="886458">
                <a:moveTo>
                  <a:pt x="0" y="0"/>
                </a:moveTo>
                <a:lnTo>
                  <a:pt x="886457" y="0"/>
                </a:lnTo>
                <a:lnTo>
                  <a:pt x="886457" y="975103"/>
                </a:lnTo>
                <a:lnTo>
                  <a:pt x="0" y="975103"/>
                </a:lnTo>
                <a:lnTo>
                  <a:pt x="0" y="0"/>
                </a:lnTo>
                <a:close/>
              </a:path>
            </a:pathLst>
          </a:custGeom>
          <a:blipFill>
            <a:blip r:embed="rId6"/>
            <a:stretch>
              <a:fillRect l="0" t="0" r="0" b="0"/>
            </a:stretch>
          </a:blipFill>
        </p:spPr>
      </p:sp>
      <p:sp>
        <p:nvSpPr>
          <p:cNvPr name="Freeform 18" id="18"/>
          <p:cNvSpPr/>
          <p:nvPr/>
        </p:nvSpPr>
        <p:spPr>
          <a:xfrm flipH="false" flipV="false" rot="0">
            <a:off x="13583252" y="3034022"/>
            <a:ext cx="1099224" cy="863676"/>
          </a:xfrm>
          <a:custGeom>
            <a:avLst/>
            <a:gdLst/>
            <a:ahLst/>
            <a:cxnLst/>
            <a:rect r="r" b="b" t="t" l="l"/>
            <a:pathLst>
              <a:path h="863676" w="1099224">
                <a:moveTo>
                  <a:pt x="0" y="0"/>
                </a:moveTo>
                <a:lnTo>
                  <a:pt x="1099224" y="0"/>
                </a:lnTo>
                <a:lnTo>
                  <a:pt x="1099224" y="863676"/>
                </a:lnTo>
                <a:lnTo>
                  <a:pt x="0" y="863676"/>
                </a:lnTo>
                <a:lnTo>
                  <a:pt x="0" y="0"/>
                </a:lnTo>
                <a:close/>
              </a:path>
            </a:pathLst>
          </a:custGeom>
          <a:blipFill>
            <a:blip r:embed="rId7"/>
            <a:stretch>
              <a:fillRect l="0" t="0" r="0" b="0"/>
            </a:stretch>
          </a:blipFill>
        </p:spPr>
      </p:sp>
      <p:grpSp>
        <p:nvGrpSpPr>
          <p:cNvPr name="Group 19" id="19"/>
          <p:cNvGrpSpPr/>
          <p:nvPr/>
        </p:nvGrpSpPr>
        <p:grpSpPr>
          <a:xfrm rot="0">
            <a:off x="1028700" y="5159375"/>
            <a:ext cx="5237623" cy="3086100"/>
            <a:chOff x="0" y="0"/>
            <a:chExt cx="1379456" cy="812800"/>
          </a:xfrm>
        </p:grpSpPr>
        <p:sp>
          <p:nvSpPr>
            <p:cNvPr name="Freeform 20" id="20"/>
            <p:cNvSpPr/>
            <p:nvPr/>
          </p:nvSpPr>
          <p:spPr>
            <a:xfrm flipH="false" flipV="false" rot="0">
              <a:off x="0" y="0"/>
              <a:ext cx="1379456" cy="812800"/>
            </a:xfrm>
            <a:custGeom>
              <a:avLst/>
              <a:gdLst/>
              <a:ahLst/>
              <a:cxnLst/>
              <a:rect r="r" b="b" t="t" l="l"/>
              <a:pathLst>
                <a:path h="812800" w="1379456">
                  <a:moveTo>
                    <a:pt x="75385" y="0"/>
                  </a:moveTo>
                  <a:lnTo>
                    <a:pt x="1304071" y="0"/>
                  </a:lnTo>
                  <a:cubicBezTo>
                    <a:pt x="1324065" y="0"/>
                    <a:pt x="1343239" y="7942"/>
                    <a:pt x="1357376" y="22080"/>
                  </a:cubicBezTo>
                  <a:cubicBezTo>
                    <a:pt x="1371514" y="36217"/>
                    <a:pt x="1379456" y="55392"/>
                    <a:pt x="1379456" y="75385"/>
                  </a:cubicBezTo>
                  <a:lnTo>
                    <a:pt x="1379456" y="737415"/>
                  </a:lnTo>
                  <a:cubicBezTo>
                    <a:pt x="1379456" y="779049"/>
                    <a:pt x="1345705" y="812800"/>
                    <a:pt x="1304071" y="812800"/>
                  </a:cubicBezTo>
                  <a:lnTo>
                    <a:pt x="75385" y="812800"/>
                  </a:lnTo>
                  <a:cubicBezTo>
                    <a:pt x="33751" y="812800"/>
                    <a:pt x="0" y="779049"/>
                    <a:pt x="0" y="737415"/>
                  </a:cubicBezTo>
                  <a:lnTo>
                    <a:pt x="0" y="75385"/>
                  </a:lnTo>
                  <a:cubicBezTo>
                    <a:pt x="0" y="33751"/>
                    <a:pt x="33751" y="0"/>
                    <a:pt x="75385" y="0"/>
                  </a:cubicBezTo>
                  <a:close/>
                </a:path>
              </a:pathLst>
            </a:custGeom>
            <a:solidFill>
              <a:srgbClr val="EFEEFB"/>
            </a:solidFill>
          </p:spPr>
        </p:sp>
        <p:sp>
          <p:nvSpPr>
            <p:cNvPr name="TextBox 21" id="21"/>
            <p:cNvSpPr txBox="true"/>
            <p:nvPr/>
          </p:nvSpPr>
          <p:spPr>
            <a:xfrm>
              <a:off x="0" y="-95250"/>
              <a:ext cx="1379456" cy="908050"/>
            </a:xfrm>
            <a:prstGeom prst="rect">
              <a:avLst/>
            </a:prstGeom>
          </p:spPr>
          <p:txBody>
            <a:bodyPr anchor="ctr" rtlCol="false" tIns="50800" lIns="50800" bIns="50800" rIns="50800"/>
            <a:lstStyle/>
            <a:p>
              <a:pPr algn="ctr">
                <a:lnSpc>
                  <a:spcPts val="5599"/>
                </a:lnSpc>
              </a:pPr>
            </a:p>
          </p:txBody>
        </p:sp>
      </p:grpSp>
      <p:sp>
        <p:nvSpPr>
          <p:cNvPr name="TextBox 22" id="22"/>
          <p:cNvSpPr txBox="true"/>
          <p:nvPr/>
        </p:nvSpPr>
        <p:spPr>
          <a:xfrm rot="0">
            <a:off x="6990423" y="1804249"/>
            <a:ext cx="3764411" cy="698500"/>
          </a:xfrm>
          <a:prstGeom prst="rect">
            <a:avLst/>
          </a:prstGeom>
        </p:spPr>
        <p:txBody>
          <a:bodyPr anchor="t" rtlCol="false" tIns="0" lIns="0" bIns="0" rIns="0">
            <a:spAutoFit/>
          </a:bodyPr>
          <a:lstStyle/>
          <a:p>
            <a:pPr algn="l" marL="0" indent="0" lvl="0">
              <a:lnSpc>
                <a:spcPts val="5000"/>
              </a:lnSpc>
            </a:pPr>
            <a:r>
              <a:rPr lang="en-US" b="true" sz="5000" spc="-210">
                <a:solidFill>
                  <a:srgbClr val="008080"/>
                </a:solidFill>
                <a:latin typeface="Times New Roman Bold"/>
                <a:ea typeface="Times New Roman Bold"/>
                <a:cs typeface="Times New Roman Bold"/>
                <a:sym typeface="Times New Roman Bold"/>
              </a:rPr>
              <a:t>Mục tiêu đề tài</a:t>
            </a:r>
          </a:p>
        </p:txBody>
      </p:sp>
      <p:sp>
        <p:nvSpPr>
          <p:cNvPr name="TextBox 23" id="23"/>
          <p:cNvSpPr txBox="true"/>
          <p:nvPr/>
        </p:nvSpPr>
        <p:spPr>
          <a:xfrm rot="0">
            <a:off x="1262667" y="4214593"/>
            <a:ext cx="4791544" cy="607060"/>
          </a:xfrm>
          <a:prstGeom prst="rect">
            <a:avLst/>
          </a:prstGeom>
        </p:spPr>
        <p:txBody>
          <a:bodyPr anchor="t" rtlCol="false" tIns="0" lIns="0" bIns="0" rIns="0">
            <a:spAutoFit/>
          </a:bodyPr>
          <a:lstStyle/>
          <a:p>
            <a:pPr algn="ctr" marL="0" indent="0" lvl="0">
              <a:lnSpc>
                <a:spcPts val="4519"/>
              </a:lnSpc>
            </a:pPr>
            <a:r>
              <a:rPr lang="en-US" b="true" sz="3999" spc="-167">
                <a:solidFill>
                  <a:srgbClr val="FFFFFF"/>
                </a:solidFill>
                <a:latin typeface="Times New Roman Bold"/>
                <a:ea typeface="Times New Roman Bold"/>
                <a:cs typeface="Times New Roman Bold"/>
                <a:sym typeface="Times New Roman Bold"/>
              </a:rPr>
              <a:t>Giao diện &amp; Dữ liệu</a:t>
            </a:r>
          </a:p>
        </p:txBody>
      </p:sp>
      <p:sp>
        <p:nvSpPr>
          <p:cNvPr name="TextBox 24" id="24"/>
          <p:cNvSpPr txBox="true"/>
          <p:nvPr/>
        </p:nvSpPr>
        <p:spPr>
          <a:xfrm rot="0">
            <a:off x="1028700" y="5292725"/>
            <a:ext cx="5179880" cy="2813050"/>
          </a:xfrm>
          <a:prstGeom prst="rect">
            <a:avLst/>
          </a:prstGeom>
        </p:spPr>
        <p:txBody>
          <a:bodyPr anchor="t" rtlCol="false" tIns="0" lIns="0" bIns="0" rIns="0">
            <a:spAutoFit/>
          </a:bodyPr>
          <a:lstStyle/>
          <a:p>
            <a:pPr algn="ctr" marL="0" indent="0" lvl="0">
              <a:lnSpc>
                <a:spcPts val="5599"/>
              </a:lnSpc>
              <a:spcBef>
                <a:spcPct val="0"/>
              </a:spcBef>
            </a:pPr>
            <a:r>
              <a:rPr lang="en-US" sz="3999">
                <a:solidFill>
                  <a:srgbClr val="008080"/>
                </a:solidFill>
                <a:latin typeface="Times New Roman"/>
                <a:ea typeface="Times New Roman"/>
                <a:cs typeface="Times New Roman"/>
                <a:sym typeface="Times New Roman"/>
              </a:rPr>
              <a:t>Xây dựng website có giao diện người dùng thân thiện, dễ sử dụng và thao tác trực quan.</a:t>
            </a:r>
          </a:p>
        </p:txBody>
      </p:sp>
      <p:sp>
        <p:nvSpPr>
          <p:cNvPr name="TextBox 25" id="25"/>
          <p:cNvSpPr txBox="true"/>
          <p:nvPr/>
        </p:nvSpPr>
        <p:spPr>
          <a:xfrm rot="0">
            <a:off x="7367663" y="4196813"/>
            <a:ext cx="3552673" cy="607060"/>
          </a:xfrm>
          <a:prstGeom prst="rect">
            <a:avLst/>
          </a:prstGeom>
        </p:spPr>
        <p:txBody>
          <a:bodyPr anchor="t" rtlCol="false" tIns="0" lIns="0" bIns="0" rIns="0">
            <a:spAutoFit/>
          </a:bodyPr>
          <a:lstStyle/>
          <a:p>
            <a:pPr algn="ctr" marL="0" indent="0" lvl="0">
              <a:lnSpc>
                <a:spcPts val="4519"/>
              </a:lnSpc>
            </a:pPr>
            <a:r>
              <a:rPr lang="en-US" b="true" sz="3999" spc="-167">
                <a:solidFill>
                  <a:srgbClr val="FFFFFF"/>
                </a:solidFill>
                <a:latin typeface="Times New Roman Bold"/>
                <a:ea typeface="Times New Roman Bold"/>
                <a:cs typeface="Times New Roman Bold"/>
                <a:sym typeface="Times New Roman Bold"/>
              </a:rPr>
              <a:t>Xử lý</a:t>
            </a:r>
            <a:r>
              <a:rPr lang="en-US" b="true" sz="3999" spc="-167">
                <a:solidFill>
                  <a:srgbClr val="FFFFFF"/>
                </a:solidFill>
                <a:latin typeface="Times New Roman Bold"/>
                <a:ea typeface="Times New Roman Bold"/>
                <a:cs typeface="Times New Roman Bold"/>
                <a:sym typeface="Times New Roman Bold"/>
              </a:rPr>
              <a:t> &amp; Dữ liệu</a:t>
            </a:r>
          </a:p>
        </p:txBody>
      </p:sp>
      <p:grpSp>
        <p:nvGrpSpPr>
          <p:cNvPr name="Group 26" id="26"/>
          <p:cNvGrpSpPr/>
          <p:nvPr/>
        </p:nvGrpSpPr>
        <p:grpSpPr>
          <a:xfrm rot="0">
            <a:off x="6445146" y="5245100"/>
            <a:ext cx="5186805" cy="3086100"/>
            <a:chOff x="0" y="0"/>
            <a:chExt cx="1366072" cy="812800"/>
          </a:xfrm>
        </p:grpSpPr>
        <p:sp>
          <p:nvSpPr>
            <p:cNvPr name="Freeform 27" id="27"/>
            <p:cNvSpPr/>
            <p:nvPr/>
          </p:nvSpPr>
          <p:spPr>
            <a:xfrm flipH="false" flipV="false" rot="0">
              <a:off x="0" y="0"/>
              <a:ext cx="1366072" cy="812800"/>
            </a:xfrm>
            <a:custGeom>
              <a:avLst/>
              <a:gdLst/>
              <a:ahLst/>
              <a:cxnLst/>
              <a:rect r="r" b="b" t="t" l="l"/>
              <a:pathLst>
                <a:path h="812800" w="1366072">
                  <a:moveTo>
                    <a:pt x="76124" y="0"/>
                  </a:moveTo>
                  <a:lnTo>
                    <a:pt x="1289948" y="0"/>
                  </a:lnTo>
                  <a:cubicBezTo>
                    <a:pt x="1310138" y="0"/>
                    <a:pt x="1329500" y="8020"/>
                    <a:pt x="1343776" y="22296"/>
                  </a:cubicBezTo>
                  <a:cubicBezTo>
                    <a:pt x="1358052" y="36572"/>
                    <a:pt x="1366072" y="55934"/>
                    <a:pt x="1366072" y="76124"/>
                  </a:cubicBezTo>
                  <a:lnTo>
                    <a:pt x="1366072" y="736676"/>
                  </a:lnTo>
                  <a:cubicBezTo>
                    <a:pt x="1366072" y="756866"/>
                    <a:pt x="1358052" y="776228"/>
                    <a:pt x="1343776" y="790504"/>
                  </a:cubicBezTo>
                  <a:cubicBezTo>
                    <a:pt x="1329500" y="804780"/>
                    <a:pt x="1310138" y="812800"/>
                    <a:pt x="1289948" y="812800"/>
                  </a:cubicBezTo>
                  <a:lnTo>
                    <a:pt x="76124" y="812800"/>
                  </a:lnTo>
                  <a:cubicBezTo>
                    <a:pt x="55934" y="812800"/>
                    <a:pt x="36572" y="804780"/>
                    <a:pt x="22296" y="790504"/>
                  </a:cubicBezTo>
                  <a:cubicBezTo>
                    <a:pt x="8020" y="776228"/>
                    <a:pt x="0" y="756866"/>
                    <a:pt x="0" y="736676"/>
                  </a:cubicBezTo>
                  <a:lnTo>
                    <a:pt x="0" y="76124"/>
                  </a:lnTo>
                  <a:cubicBezTo>
                    <a:pt x="0" y="55934"/>
                    <a:pt x="8020" y="36572"/>
                    <a:pt x="22296" y="22296"/>
                  </a:cubicBezTo>
                  <a:cubicBezTo>
                    <a:pt x="36572" y="8020"/>
                    <a:pt x="55934" y="0"/>
                    <a:pt x="76124" y="0"/>
                  </a:cubicBezTo>
                  <a:close/>
                </a:path>
              </a:pathLst>
            </a:custGeom>
            <a:solidFill>
              <a:srgbClr val="EFEEFB"/>
            </a:solidFill>
          </p:spPr>
        </p:sp>
        <p:sp>
          <p:nvSpPr>
            <p:cNvPr name="TextBox 28" id="28"/>
            <p:cNvSpPr txBox="true"/>
            <p:nvPr/>
          </p:nvSpPr>
          <p:spPr>
            <a:xfrm>
              <a:off x="0" y="-95250"/>
              <a:ext cx="1366072" cy="908050"/>
            </a:xfrm>
            <a:prstGeom prst="rect">
              <a:avLst/>
            </a:prstGeom>
          </p:spPr>
          <p:txBody>
            <a:bodyPr anchor="ctr" rtlCol="false" tIns="50800" lIns="50800" bIns="50800" rIns="50800"/>
            <a:lstStyle/>
            <a:p>
              <a:pPr algn="ctr">
                <a:lnSpc>
                  <a:spcPts val="5599"/>
                </a:lnSpc>
              </a:pPr>
            </a:p>
          </p:txBody>
        </p:sp>
      </p:grpSp>
      <p:sp>
        <p:nvSpPr>
          <p:cNvPr name="TextBox 29" id="29"/>
          <p:cNvSpPr txBox="true"/>
          <p:nvPr/>
        </p:nvSpPr>
        <p:spPr>
          <a:xfrm rot="0">
            <a:off x="6666373" y="5292725"/>
            <a:ext cx="4783986" cy="2813050"/>
          </a:xfrm>
          <a:prstGeom prst="rect">
            <a:avLst/>
          </a:prstGeom>
        </p:spPr>
        <p:txBody>
          <a:bodyPr anchor="t" rtlCol="false" tIns="0" lIns="0" bIns="0" rIns="0">
            <a:spAutoFit/>
          </a:bodyPr>
          <a:lstStyle/>
          <a:p>
            <a:pPr algn="ctr" marL="0" indent="0" lvl="0">
              <a:lnSpc>
                <a:spcPts val="5599"/>
              </a:lnSpc>
              <a:spcBef>
                <a:spcPct val="0"/>
              </a:spcBef>
            </a:pPr>
            <a:r>
              <a:rPr lang="en-US" sz="3999">
                <a:solidFill>
                  <a:srgbClr val="008080"/>
                </a:solidFill>
                <a:latin typeface="Times New Roman"/>
                <a:ea typeface="Times New Roman"/>
                <a:cs typeface="Times New Roman"/>
                <a:sym typeface="Times New Roman"/>
              </a:rPr>
              <a:t>Kết nối</a:t>
            </a:r>
            <a:r>
              <a:rPr lang="en-US" sz="3999">
                <a:solidFill>
                  <a:srgbClr val="008080"/>
                </a:solidFill>
                <a:latin typeface="Times New Roman"/>
                <a:ea typeface="Times New Roman"/>
                <a:cs typeface="Times New Roman"/>
                <a:sym typeface="Times New Roman"/>
              </a:rPr>
              <a:t> an toàn cơ sở dữ liệu MySQL, xử lý tìm kiếm, lọc và hiển thị dữ liệu bằng PHP.</a:t>
            </a:r>
          </a:p>
        </p:txBody>
      </p:sp>
      <p:sp>
        <p:nvSpPr>
          <p:cNvPr name="TextBox 30" id="30"/>
          <p:cNvSpPr txBox="true"/>
          <p:nvPr/>
        </p:nvSpPr>
        <p:spPr>
          <a:xfrm rot="0">
            <a:off x="12572716" y="4214593"/>
            <a:ext cx="4481826" cy="607060"/>
          </a:xfrm>
          <a:prstGeom prst="rect">
            <a:avLst/>
          </a:prstGeom>
        </p:spPr>
        <p:txBody>
          <a:bodyPr anchor="t" rtlCol="false" tIns="0" lIns="0" bIns="0" rIns="0">
            <a:spAutoFit/>
          </a:bodyPr>
          <a:lstStyle/>
          <a:p>
            <a:pPr algn="ctr" marL="0" indent="0" lvl="0">
              <a:lnSpc>
                <a:spcPts val="4519"/>
              </a:lnSpc>
            </a:pPr>
            <a:r>
              <a:rPr lang="en-US" b="true" sz="3999" spc="-167">
                <a:solidFill>
                  <a:srgbClr val="FFFFFF"/>
                </a:solidFill>
                <a:latin typeface="Times New Roman Bold"/>
                <a:ea typeface="Times New Roman Bold"/>
                <a:cs typeface="Times New Roman Bold"/>
                <a:sym typeface="Times New Roman Bold"/>
              </a:rPr>
              <a:t>Quản trị &amp; Mã nguồn</a:t>
            </a:r>
          </a:p>
        </p:txBody>
      </p:sp>
      <p:grpSp>
        <p:nvGrpSpPr>
          <p:cNvPr name="Group 31" id="31"/>
          <p:cNvGrpSpPr/>
          <p:nvPr/>
        </p:nvGrpSpPr>
        <p:grpSpPr>
          <a:xfrm rot="0">
            <a:off x="11850409" y="5245100"/>
            <a:ext cx="5984081" cy="3086100"/>
            <a:chOff x="0" y="0"/>
            <a:chExt cx="1576054" cy="812800"/>
          </a:xfrm>
        </p:grpSpPr>
        <p:sp>
          <p:nvSpPr>
            <p:cNvPr name="Freeform 32" id="32"/>
            <p:cNvSpPr/>
            <p:nvPr/>
          </p:nvSpPr>
          <p:spPr>
            <a:xfrm flipH="false" flipV="false" rot="0">
              <a:off x="0" y="0"/>
              <a:ext cx="1576054" cy="812800"/>
            </a:xfrm>
            <a:custGeom>
              <a:avLst/>
              <a:gdLst/>
              <a:ahLst/>
              <a:cxnLst/>
              <a:rect r="r" b="b" t="t" l="l"/>
              <a:pathLst>
                <a:path h="812800" w="1576054">
                  <a:moveTo>
                    <a:pt x="65981" y="0"/>
                  </a:moveTo>
                  <a:lnTo>
                    <a:pt x="1510073" y="0"/>
                  </a:lnTo>
                  <a:cubicBezTo>
                    <a:pt x="1527572" y="0"/>
                    <a:pt x="1544355" y="6952"/>
                    <a:pt x="1556729" y="19325"/>
                  </a:cubicBezTo>
                  <a:cubicBezTo>
                    <a:pt x="1569103" y="31699"/>
                    <a:pt x="1576054" y="48482"/>
                    <a:pt x="1576054" y="65981"/>
                  </a:cubicBezTo>
                  <a:lnTo>
                    <a:pt x="1576054" y="746819"/>
                  </a:lnTo>
                  <a:cubicBezTo>
                    <a:pt x="1576054" y="764318"/>
                    <a:pt x="1569103" y="781101"/>
                    <a:pt x="1556729" y="793474"/>
                  </a:cubicBezTo>
                  <a:cubicBezTo>
                    <a:pt x="1544355" y="805848"/>
                    <a:pt x="1527572" y="812800"/>
                    <a:pt x="1510073" y="812800"/>
                  </a:cubicBezTo>
                  <a:lnTo>
                    <a:pt x="65981" y="812800"/>
                  </a:lnTo>
                  <a:cubicBezTo>
                    <a:pt x="48482" y="812800"/>
                    <a:pt x="31699" y="805848"/>
                    <a:pt x="19325" y="793474"/>
                  </a:cubicBezTo>
                  <a:cubicBezTo>
                    <a:pt x="6952" y="781101"/>
                    <a:pt x="0" y="764318"/>
                    <a:pt x="0" y="746819"/>
                  </a:cubicBezTo>
                  <a:lnTo>
                    <a:pt x="0" y="65981"/>
                  </a:lnTo>
                  <a:cubicBezTo>
                    <a:pt x="0" y="48482"/>
                    <a:pt x="6952" y="31699"/>
                    <a:pt x="19325" y="19325"/>
                  </a:cubicBezTo>
                  <a:cubicBezTo>
                    <a:pt x="31699" y="6952"/>
                    <a:pt x="48482" y="0"/>
                    <a:pt x="65981" y="0"/>
                  </a:cubicBezTo>
                  <a:close/>
                </a:path>
              </a:pathLst>
            </a:custGeom>
            <a:solidFill>
              <a:srgbClr val="EFEEFB"/>
            </a:solidFill>
          </p:spPr>
        </p:sp>
        <p:sp>
          <p:nvSpPr>
            <p:cNvPr name="TextBox 33" id="33"/>
            <p:cNvSpPr txBox="true"/>
            <p:nvPr/>
          </p:nvSpPr>
          <p:spPr>
            <a:xfrm>
              <a:off x="0" y="-95250"/>
              <a:ext cx="1576054" cy="908050"/>
            </a:xfrm>
            <a:prstGeom prst="rect">
              <a:avLst/>
            </a:prstGeom>
          </p:spPr>
          <p:txBody>
            <a:bodyPr anchor="ctr" rtlCol="false" tIns="50800" lIns="50800" bIns="50800" rIns="50800"/>
            <a:lstStyle/>
            <a:p>
              <a:pPr algn="ctr">
                <a:lnSpc>
                  <a:spcPts val="5599"/>
                </a:lnSpc>
              </a:pPr>
            </a:p>
          </p:txBody>
        </p:sp>
      </p:grpSp>
      <p:sp>
        <p:nvSpPr>
          <p:cNvPr name="TextBox 34" id="34"/>
          <p:cNvSpPr txBox="true"/>
          <p:nvPr/>
        </p:nvSpPr>
        <p:spPr>
          <a:xfrm rot="0">
            <a:off x="12069533" y="5292725"/>
            <a:ext cx="5631117" cy="3517900"/>
          </a:xfrm>
          <a:prstGeom prst="rect">
            <a:avLst/>
          </a:prstGeom>
        </p:spPr>
        <p:txBody>
          <a:bodyPr anchor="t" rtlCol="false" tIns="0" lIns="0" bIns="0" rIns="0">
            <a:spAutoFit/>
          </a:bodyPr>
          <a:lstStyle/>
          <a:p>
            <a:pPr algn="ctr" marL="0" indent="0" lvl="0">
              <a:lnSpc>
                <a:spcPts val="5599"/>
              </a:lnSpc>
              <a:spcBef>
                <a:spcPct val="0"/>
              </a:spcBef>
            </a:pPr>
            <a:r>
              <a:rPr lang="en-US" sz="3999">
                <a:solidFill>
                  <a:srgbClr val="008080"/>
                </a:solidFill>
                <a:latin typeface="Times New Roman"/>
                <a:ea typeface="Times New Roman"/>
                <a:cs typeface="Times New Roman"/>
                <a:sym typeface="Times New Roman"/>
              </a:rPr>
              <a:t>Tạo chức</a:t>
            </a:r>
            <a:r>
              <a:rPr lang="en-US" sz="3999">
                <a:solidFill>
                  <a:srgbClr val="008080"/>
                </a:solidFill>
                <a:latin typeface="Times New Roman"/>
                <a:ea typeface="Times New Roman"/>
                <a:cs typeface="Times New Roman"/>
                <a:sym typeface="Times New Roman"/>
              </a:rPr>
              <a:t> năng thêm, sửa, xóa dữ liệu trong trang quản trị. Thực hành tổ chức mã nguồn web rõ ràng.</a:t>
            </a:r>
          </a:p>
          <a:p>
            <a:pPr algn="ctr" marL="0" indent="0" lvl="0">
              <a:lnSpc>
                <a:spcPts val="5599"/>
              </a:lnSpc>
              <a:spcBef>
                <a:spcPct val="0"/>
              </a:spcBef>
            </a:pPr>
          </a:p>
        </p:txBody>
      </p:sp>
    </p:spTree>
  </p:cSld>
  <p:clrMapOvr>
    <a:masterClrMapping/>
  </p:clrMapOvr>
  <p:transition spd="slow">
    <p:cover dir="l"/>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8016535" y="342805"/>
            <a:ext cx="10271465" cy="1261095"/>
            <a:chOff x="0" y="0"/>
            <a:chExt cx="13695286" cy="1681460"/>
          </a:xfrm>
        </p:grpSpPr>
        <p:sp>
          <p:nvSpPr>
            <p:cNvPr name="Freeform 4" id="4"/>
            <p:cNvSpPr/>
            <p:nvPr/>
          </p:nvSpPr>
          <p:spPr>
            <a:xfrm flipH="false" flipV="false" rot="0">
              <a:off x="0" y="0"/>
              <a:ext cx="13695283" cy="1681465"/>
            </a:xfrm>
            <a:custGeom>
              <a:avLst/>
              <a:gdLst/>
              <a:ahLst/>
              <a:cxnLst/>
              <a:rect r="r" b="b" t="t" l="l"/>
              <a:pathLst>
                <a:path h="1681465" w="13695283">
                  <a:moveTo>
                    <a:pt x="0" y="0"/>
                  </a:moveTo>
                  <a:lnTo>
                    <a:pt x="13695283" y="0"/>
                  </a:lnTo>
                  <a:lnTo>
                    <a:pt x="13695283" y="1681465"/>
                  </a:lnTo>
                  <a:lnTo>
                    <a:pt x="0" y="1681465"/>
                  </a:lnTo>
                  <a:close/>
                </a:path>
              </a:pathLst>
            </a:custGeom>
            <a:blipFill>
              <a:blip r:embed="rId3">
                <a:alphaModFix amt="0"/>
              </a:blip>
              <a:stretch>
                <a:fillRect l="0" t="-117720" r="0" b="-99684"/>
              </a:stretch>
            </a:blipFill>
          </p:spPr>
        </p:sp>
        <p:sp>
          <p:nvSpPr>
            <p:cNvPr name="TextBox 5" id="5"/>
            <p:cNvSpPr txBox="true"/>
            <p:nvPr/>
          </p:nvSpPr>
          <p:spPr>
            <a:xfrm>
              <a:off x="0" y="-28575"/>
              <a:ext cx="13695286" cy="1710035"/>
            </a:xfrm>
            <a:prstGeom prst="rect">
              <a:avLst/>
            </a:prstGeom>
          </p:spPr>
          <p:txBody>
            <a:bodyPr anchor="ctr" rtlCol="false" tIns="0" lIns="0" bIns="0" rIns="0"/>
            <a:lstStyle/>
            <a:p>
              <a:pPr algn="ctr">
                <a:lnSpc>
                  <a:spcPts val="4320"/>
                </a:lnSpc>
              </a:pPr>
              <a:r>
                <a:rPr lang="en-US" sz="3600" b="true">
                  <a:solidFill>
                    <a:srgbClr val="008080"/>
                  </a:solidFill>
                  <a:latin typeface="Times New Roman Bold"/>
                  <a:ea typeface="Times New Roman Bold"/>
                  <a:cs typeface="Times New Roman Bold"/>
                  <a:sym typeface="Times New Roman Bold"/>
                </a:rPr>
                <a:t>TRƯỜNG ĐẠI HỌC GIAO THÔNG VẬN TẢI </a:t>
              </a:r>
            </a:p>
            <a:p>
              <a:pPr algn="ctr">
                <a:lnSpc>
                  <a:spcPts val="4320"/>
                </a:lnSpc>
              </a:pPr>
              <a:r>
                <a:rPr lang="en-US" sz="3600" b="true">
                  <a:solidFill>
                    <a:srgbClr val="008080"/>
                  </a:solidFill>
                  <a:latin typeface="Times New Roman Bold"/>
                  <a:ea typeface="Times New Roman Bold"/>
                  <a:cs typeface="Times New Roman Bold"/>
                  <a:sym typeface="Times New Roman Bold"/>
                </a:rPr>
                <a:t>THÀNH PHỐ HỒ CHÍ MINH</a:t>
              </a:r>
            </a:p>
          </p:txBody>
        </p:sp>
      </p:grpSp>
      <p:sp>
        <p:nvSpPr>
          <p:cNvPr name="Freeform 6" id="6"/>
          <p:cNvSpPr/>
          <p:nvPr/>
        </p:nvSpPr>
        <p:spPr>
          <a:xfrm flipH="true" flipV="false" rot="0">
            <a:off x="-4653590" y="8845492"/>
            <a:ext cx="24520492" cy="4402586"/>
          </a:xfrm>
          <a:custGeom>
            <a:avLst/>
            <a:gdLst/>
            <a:ahLst/>
            <a:cxnLst/>
            <a:rect r="r" b="b" t="t" l="l"/>
            <a:pathLst>
              <a:path h="4402586" w="24520492">
                <a:moveTo>
                  <a:pt x="24520491" y="0"/>
                </a:moveTo>
                <a:lnTo>
                  <a:pt x="0" y="0"/>
                </a:lnTo>
                <a:lnTo>
                  <a:pt x="0" y="4402586"/>
                </a:lnTo>
                <a:lnTo>
                  <a:pt x="24520491" y="4402586"/>
                </a:lnTo>
                <a:lnTo>
                  <a:pt x="24520491" y="0"/>
                </a:lnTo>
                <a:close/>
              </a:path>
            </a:pathLst>
          </a:custGeom>
          <a:blipFill>
            <a:blip r:embed="rId4">
              <a:alphaModFix amt="6000"/>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862888">
            <a:off x="19508182" y="-1166535"/>
            <a:ext cx="5429187" cy="15382828"/>
            <a:chOff x="0" y="0"/>
            <a:chExt cx="1429909" cy="4051444"/>
          </a:xfrm>
        </p:grpSpPr>
        <p:sp>
          <p:nvSpPr>
            <p:cNvPr name="Freeform 8" id="8"/>
            <p:cNvSpPr/>
            <p:nvPr/>
          </p:nvSpPr>
          <p:spPr>
            <a:xfrm flipH="false" flipV="false" rot="0">
              <a:off x="0" y="0"/>
              <a:ext cx="1429909" cy="4051444"/>
            </a:xfrm>
            <a:custGeom>
              <a:avLst/>
              <a:gdLst/>
              <a:ahLst/>
              <a:cxnLst/>
              <a:rect r="r" b="b" t="t" l="l"/>
              <a:pathLst>
                <a:path h="4051444" w="1429909">
                  <a:moveTo>
                    <a:pt x="0" y="0"/>
                  </a:moveTo>
                  <a:lnTo>
                    <a:pt x="1429909" y="0"/>
                  </a:lnTo>
                  <a:lnTo>
                    <a:pt x="1429909" y="4051444"/>
                  </a:lnTo>
                  <a:lnTo>
                    <a:pt x="0" y="4051444"/>
                  </a:lnTo>
                  <a:close/>
                </a:path>
              </a:pathLst>
            </a:custGeom>
            <a:solidFill>
              <a:srgbClr val="20989B"/>
            </a:solidFill>
          </p:spPr>
        </p:sp>
        <p:sp>
          <p:nvSpPr>
            <p:cNvPr name="TextBox 9" id="9"/>
            <p:cNvSpPr txBox="true"/>
            <p:nvPr/>
          </p:nvSpPr>
          <p:spPr>
            <a:xfrm>
              <a:off x="0" y="-85725"/>
              <a:ext cx="1429909" cy="4137169"/>
            </a:xfrm>
            <a:prstGeom prst="rect">
              <a:avLst/>
            </a:prstGeom>
          </p:spPr>
          <p:txBody>
            <a:bodyPr anchor="ctr" rtlCol="false" tIns="50800" lIns="50800" bIns="50800" rIns="50800"/>
            <a:lstStyle/>
            <a:p>
              <a:pPr algn="ctr" marL="0" indent="0" lvl="0">
                <a:lnSpc>
                  <a:spcPts val="4200"/>
                </a:lnSpc>
                <a:spcBef>
                  <a:spcPct val="0"/>
                </a:spcBef>
              </a:pPr>
            </a:p>
          </p:txBody>
        </p:sp>
      </p:grpSp>
      <p:grpSp>
        <p:nvGrpSpPr>
          <p:cNvPr name="Group 10" id="10"/>
          <p:cNvGrpSpPr/>
          <p:nvPr/>
        </p:nvGrpSpPr>
        <p:grpSpPr>
          <a:xfrm rot="-852149">
            <a:off x="17568054" y="-2521079"/>
            <a:ext cx="887655" cy="5727768"/>
            <a:chOff x="0" y="0"/>
            <a:chExt cx="233786" cy="1508548"/>
          </a:xfrm>
        </p:grpSpPr>
        <p:sp>
          <p:nvSpPr>
            <p:cNvPr name="Freeform 11" id="11"/>
            <p:cNvSpPr/>
            <p:nvPr/>
          </p:nvSpPr>
          <p:spPr>
            <a:xfrm flipH="false" flipV="false" rot="0">
              <a:off x="0" y="0"/>
              <a:ext cx="233786" cy="1508548"/>
            </a:xfrm>
            <a:custGeom>
              <a:avLst/>
              <a:gdLst/>
              <a:ahLst/>
              <a:cxnLst/>
              <a:rect r="r" b="b" t="t" l="l"/>
              <a:pathLst>
                <a:path h="1508548" w="233786">
                  <a:moveTo>
                    <a:pt x="0" y="0"/>
                  </a:moveTo>
                  <a:lnTo>
                    <a:pt x="233786" y="0"/>
                  </a:lnTo>
                  <a:lnTo>
                    <a:pt x="233786" y="1508548"/>
                  </a:lnTo>
                  <a:lnTo>
                    <a:pt x="0" y="1508548"/>
                  </a:lnTo>
                  <a:close/>
                </a:path>
              </a:pathLst>
            </a:custGeom>
            <a:gradFill rotWithShape="true">
              <a:gsLst>
                <a:gs pos="0">
                  <a:srgbClr val="20989B">
                    <a:alpha val="100000"/>
                  </a:srgbClr>
                </a:gs>
                <a:gs pos="50000">
                  <a:srgbClr val="C3FEFF">
                    <a:alpha val="50500"/>
                  </a:srgbClr>
                </a:gs>
                <a:gs pos="100000">
                  <a:srgbClr val="F9FFFF">
                    <a:alpha val="0"/>
                  </a:srgbClr>
                </a:gs>
              </a:gsLst>
              <a:lin ang="5400000"/>
            </a:gradFill>
          </p:spPr>
        </p:sp>
        <p:sp>
          <p:nvSpPr>
            <p:cNvPr name="TextBox 12" id="12"/>
            <p:cNvSpPr txBox="true"/>
            <p:nvPr/>
          </p:nvSpPr>
          <p:spPr>
            <a:xfrm>
              <a:off x="0" y="-57150"/>
              <a:ext cx="233786" cy="1565698"/>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3" id="13"/>
          <p:cNvGrpSpPr/>
          <p:nvPr/>
        </p:nvGrpSpPr>
        <p:grpSpPr>
          <a:xfrm rot="0">
            <a:off x="718982" y="5268522"/>
            <a:ext cx="9303714" cy="1064165"/>
            <a:chOff x="0" y="0"/>
            <a:chExt cx="3553048" cy="406400"/>
          </a:xfrm>
        </p:grpSpPr>
        <p:sp>
          <p:nvSpPr>
            <p:cNvPr name="Freeform 14" id="14"/>
            <p:cNvSpPr/>
            <p:nvPr/>
          </p:nvSpPr>
          <p:spPr>
            <a:xfrm flipH="false" flipV="false" rot="0">
              <a:off x="0" y="0"/>
              <a:ext cx="3553047" cy="406400"/>
            </a:xfrm>
            <a:custGeom>
              <a:avLst/>
              <a:gdLst/>
              <a:ahLst/>
              <a:cxnLst/>
              <a:rect r="r" b="b" t="t" l="l"/>
              <a:pathLst>
                <a:path h="406400" w="3553047">
                  <a:moveTo>
                    <a:pt x="3349847" y="0"/>
                  </a:moveTo>
                  <a:cubicBezTo>
                    <a:pt x="3462072" y="0"/>
                    <a:pt x="3553047" y="90976"/>
                    <a:pt x="3553047" y="203200"/>
                  </a:cubicBezTo>
                  <a:cubicBezTo>
                    <a:pt x="3553047" y="315424"/>
                    <a:pt x="3462072" y="406400"/>
                    <a:pt x="3349847" y="406400"/>
                  </a:cubicBezTo>
                  <a:lnTo>
                    <a:pt x="203200" y="406400"/>
                  </a:lnTo>
                  <a:cubicBezTo>
                    <a:pt x="90976" y="406400"/>
                    <a:pt x="0" y="315424"/>
                    <a:pt x="0" y="203200"/>
                  </a:cubicBezTo>
                  <a:cubicBezTo>
                    <a:pt x="0" y="90976"/>
                    <a:pt x="90976" y="0"/>
                    <a:pt x="203200" y="0"/>
                  </a:cubicBezTo>
                  <a:close/>
                </a:path>
              </a:pathLst>
            </a:custGeom>
            <a:solidFill>
              <a:srgbClr val="20989B"/>
            </a:solidFill>
          </p:spPr>
        </p:sp>
        <p:sp>
          <p:nvSpPr>
            <p:cNvPr name="TextBox 15" id="15"/>
            <p:cNvSpPr txBox="true"/>
            <p:nvPr/>
          </p:nvSpPr>
          <p:spPr>
            <a:xfrm>
              <a:off x="0" y="-85725"/>
              <a:ext cx="3553048" cy="492125"/>
            </a:xfrm>
            <a:prstGeom prst="rect">
              <a:avLst/>
            </a:prstGeom>
          </p:spPr>
          <p:txBody>
            <a:bodyPr anchor="ctr" rtlCol="false" tIns="50800" lIns="50800" bIns="50800" rIns="50800"/>
            <a:lstStyle/>
            <a:p>
              <a:pPr algn="ctr" marL="0" indent="0" lvl="0">
                <a:lnSpc>
                  <a:spcPts val="4200"/>
                </a:lnSpc>
              </a:pPr>
              <a:r>
                <a:rPr lang="en-US" b="true" sz="3000">
                  <a:solidFill>
                    <a:srgbClr val="FFFFFF"/>
                  </a:solidFill>
                  <a:latin typeface="Times New Roman Bold"/>
                  <a:ea typeface="Times New Roman Bold"/>
                  <a:cs typeface="Times New Roman Bold"/>
                  <a:sym typeface="Times New Roman Bold"/>
                </a:rPr>
                <a:t>HTML - Cấu trúc trang web</a:t>
              </a:r>
            </a:p>
          </p:txBody>
        </p:sp>
      </p:grpSp>
      <p:grpSp>
        <p:nvGrpSpPr>
          <p:cNvPr name="Group 16" id="16"/>
          <p:cNvGrpSpPr/>
          <p:nvPr/>
        </p:nvGrpSpPr>
        <p:grpSpPr>
          <a:xfrm rot="0">
            <a:off x="718982" y="7046755"/>
            <a:ext cx="7889233" cy="1064165"/>
            <a:chOff x="0" y="0"/>
            <a:chExt cx="3012863" cy="406400"/>
          </a:xfrm>
        </p:grpSpPr>
        <p:sp>
          <p:nvSpPr>
            <p:cNvPr name="Freeform 17" id="17"/>
            <p:cNvSpPr/>
            <p:nvPr/>
          </p:nvSpPr>
          <p:spPr>
            <a:xfrm flipH="false" flipV="false" rot="0">
              <a:off x="0" y="0"/>
              <a:ext cx="3012863" cy="406400"/>
            </a:xfrm>
            <a:custGeom>
              <a:avLst/>
              <a:gdLst/>
              <a:ahLst/>
              <a:cxnLst/>
              <a:rect r="r" b="b" t="t" l="l"/>
              <a:pathLst>
                <a:path h="406400" w="3012863">
                  <a:moveTo>
                    <a:pt x="2809663" y="0"/>
                  </a:moveTo>
                  <a:cubicBezTo>
                    <a:pt x="2921888" y="0"/>
                    <a:pt x="3012863" y="90976"/>
                    <a:pt x="3012863" y="203200"/>
                  </a:cubicBezTo>
                  <a:cubicBezTo>
                    <a:pt x="3012863" y="315424"/>
                    <a:pt x="2921888" y="406400"/>
                    <a:pt x="2809663" y="406400"/>
                  </a:cubicBezTo>
                  <a:lnTo>
                    <a:pt x="203200" y="406400"/>
                  </a:lnTo>
                  <a:cubicBezTo>
                    <a:pt x="90976" y="406400"/>
                    <a:pt x="0" y="315424"/>
                    <a:pt x="0" y="203200"/>
                  </a:cubicBezTo>
                  <a:cubicBezTo>
                    <a:pt x="0" y="90976"/>
                    <a:pt x="90976" y="0"/>
                    <a:pt x="203200" y="0"/>
                  </a:cubicBezTo>
                  <a:close/>
                </a:path>
              </a:pathLst>
            </a:custGeom>
            <a:solidFill>
              <a:srgbClr val="39515A"/>
            </a:solidFill>
          </p:spPr>
        </p:sp>
        <p:sp>
          <p:nvSpPr>
            <p:cNvPr name="TextBox 18" id="18"/>
            <p:cNvSpPr txBox="true"/>
            <p:nvPr/>
          </p:nvSpPr>
          <p:spPr>
            <a:xfrm>
              <a:off x="0" y="-85725"/>
              <a:ext cx="3012863" cy="492125"/>
            </a:xfrm>
            <a:prstGeom prst="rect">
              <a:avLst/>
            </a:prstGeom>
          </p:spPr>
          <p:txBody>
            <a:bodyPr anchor="ctr" rtlCol="false" tIns="50800" lIns="50800" bIns="50800" rIns="50800"/>
            <a:lstStyle/>
            <a:p>
              <a:pPr algn="ctr" marL="0" indent="0" lvl="0">
                <a:lnSpc>
                  <a:spcPts val="4200"/>
                </a:lnSpc>
              </a:pPr>
            </a:p>
          </p:txBody>
        </p:sp>
      </p:grpSp>
      <p:grpSp>
        <p:nvGrpSpPr>
          <p:cNvPr name="Group 19" id="19"/>
          <p:cNvGrpSpPr/>
          <p:nvPr/>
        </p:nvGrpSpPr>
        <p:grpSpPr>
          <a:xfrm rot="0">
            <a:off x="10182359" y="5291988"/>
            <a:ext cx="7519804" cy="1064165"/>
            <a:chOff x="0" y="0"/>
            <a:chExt cx="2871780" cy="406400"/>
          </a:xfrm>
        </p:grpSpPr>
        <p:sp>
          <p:nvSpPr>
            <p:cNvPr name="Freeform 20" id="20"/>
            <p:cNvSpPr/>
            <p:nvPr/>
          </p:nvSpPr>
          <p:spPr>
            <a:xfrm flipH="false" flipV="false" rot="0">
              <a:off x="0" y="0"/>
              <a:ext cx="2871780" cy="406400"/>
            </a:xfrm>
            <a:custGeom>
              <a:avLst/>
              <a:gdLst/>
              <a:ahLst/>
              <a:cxnLst/>
              <a:rect r="r" b="b" t="t" l="l"/>
              <a:pathLst>
                <a:path h="406400" w="2871780">
                  <a:moveTo>
                    <a:pt x="2668580" y="0"/>
                  </a:moveTo>
                  <a:cubicBezTo>
                    <a:pt x="2780804" y="0"/>
                    <a:pt x="2871780" y="90976"/>
                    <a:pt x="2871780" y="203200"/>
                  </a:cubicBezTo>
                  <a:cubicBezTo>
                    <a:pt x="2871780" y="315424"/>
                    <a:pt x="2780804" y="406400"/>
                    <a:pt x="2668580" y="406400"/>
                  </a:cubicBezTo>
                  <a:lnTo>
                    <a:pt x="203200" y="406400"/>
                  </a:lnTo>
                  <a:cubicBezTo>
                    <a:pt x="90976" y="406400"/>
                    <a:pt x="0" y="315424"/>
                    <a:pt x="0" y="203200"/>
                  </a:cubicBezTo>
                  <a:cubicBezTo>
                    <a:pt x="0" y="90976"/>
                    <a:pt x="90976" y="0"/>
                    <a:pt x="203200" y="0"/>
                  </a:cubicBezTo>
                  <a:close/>
                </a:path>
              </a:pathLst>
            </a:custGeom>
            <a:solidFill>
              <a:srgbClr val="39515A"/>
            </a:solidFill>
          </p:spPr>
        </p:sp>
        <p:sp>
          <p:nvSpPr>
            <p:cNvPr name="TextBox 21" id="21"/>
            <p:cNvSpPr txBox="true"/>
            <p:nvPr/>
          </p:nvSpPr>
          <p:spPr>
            <a:xfrm>
              <a:off x="0" y="-85725"/>
              <a:ext cx="2871780" cy="492125"/>
            </a:xfrm>
            <a:prstGeom prst="rect">
              <a:avLst/>
            </a:prstGeom>
          </p:spPr>
          <p:txBody>
            <a:bodyPr anchor="ctr" rtlCol="false" tIns="50800" lIns="50800" bIns="50800" rIns="50800"/>
            <a:lstStyle/>
            <a:p>
              <a:pPr algn="ctr" marL="0" indent="0" lvl="0">
                <a:lnSpc>
                  <a:spcPts val="4200"/>
                </a:lnSpc>
              </a:pPr>
            </a:p>
          </p:txBody>
        </p:sp>
      </p:grpSp>
      <p:grpSp>
        <p:nvGrpSpPr>
          <p:cNvPr name="Group 22" id="22"/>
          <p:cNvGrpSpPr/>
          <p:nvPr/>
        </p:nvGrpSpPr>
        <p:grpSpPr>
          <a:xfrm rot="0">
            <a:off x="8977644" y="7046755"/>
            <a:ext cx="8724520" cy="1064165"/>
            <a:chOff x="0" y="0"/>
            <a:chExt cx="3331856" cy="406400"/>
          </a:xfrm>
        </p:grpSpPr>
        <p:sp>
          <p:nvSpPr>
            <p:cNvPr name="Freeform 23" id="23"/>
            <p:cNvSpPr/>
            <p:nvPr/>
          </p:nvSpPr>
          <p:spPr>
            <a:xfrm flipH="false" flipV="false" rot="0">
              <a:off x="0" y="0"/>
              <a:ext cx="3331856" cy="406400"/>
            </a:xfrm>
            <a:custGeom>
              <a:avLst/>
              <a:gdLst/>
              <a:ahLst/>
              <a:cxnLst/>
              <a:rect r="r" b="b" t="t" l="l"/>
              <a:pathLst>
                <a:path h="406400" w="3331856">
                  <a:moveTo>
                    <a:pt x="3128656" y="0"/>
                  </a:moveTo>
                  <a:cubicBezTo>
                    <a:pt x="3240880" y="0"/>
                    <a:pt x="3331856" y="90976"/>
                    <a:pt x="3331856" y="203200"/>
                  </a:cubicBezTo>
                  <a:cubicBezTo>
                    <a:pt x="3331856" y="315424"/>
                    <a:pt x="3240880" y="406400"/>
                    <a:pt x="3128656" y="406400"/>
                  </a:cubicBezTo>
                  <a:lnTo>
                    <a:pt x="203200" y="406400"/>
                  </a:lnTo>
                  <a:cubicBezTo>
                    <a:pt x="90976" y="406400"/>
                    <a:pt x="0" y="315424"/>
                    <a:pt x="0" y="203200"/>
                  </a:cubicBezTo>
                  <a:cubicBezTo>
                    <a:pt x="0" y="90976"/>
                    <a:pt x="90976" y="0"/>
                    <a:pt x="203200" y="0"/>
                  </a:cubicBezTo>
                  <a:close/>
                </a:path>
              </a:pathLst>
            </a:custGeom>
            <a:solidFill>
              <a:srgbClr val="20989B"/>
            </a:solidFill>
          </p:spPr>
        </p:sp>
        <p:sp>
          <p:nvSpPr>
            <p:cNvPr name="TextBox 24" id="24"/>
            <p:cNvSpPr txBox="true"/>
            <p:nvPr/>
          </p:nvSpPr>
          <p:spPr>
            <a:xfrm>
              <a:off x="0" y="-85725"/>
              <a:ext cx="3331856" cy="492125"/>
            </a:xfrm>
            <a:prstGeom prst="rect">
              <a:avLst/>
            </a:prstGeom>
          </p:spPr>
          <p:txBody>
            <a:bodyPr anchor="ctr" rtlCol="false" tIns="50800" lIns="50800" bIns="50800" rIns="50800"/>
            <a:lstStyle/>
            <a:p>
              <a:pPr algn="ctr" marL="0" indent="0" lvl="0">
                <a:lnSpc>
                  <a:spcPts val="4200"/>
                </a:lnSpc>
              </a:pPr>
            </a:p>
          </p:txBody>
        </p:sp>
      </p:grpSp>
      <p:sp>
        <p:nvSpPr>
          <p:cNvPr name="Freeform 25" id="25"/>
          <p:cNvSpPr/>
          <p:nvPr/>
        </p:nvSpPr>
        <p:spPr>
          <a:xfrm flipH="false" flipV="false" rot="0">
            <a:off x="947197" y="5461211"/>
            <a:ext cx="699411" cy="725719"/>
          </a:xfrm>
          <a:custGeom>
            <a:avLst/>
            <a:gdLst/>
            <a:ahLst/>
            <a:cxnLst/>
            <a:rect r="r" b="b" t="t" l="l"/>
            <a:pathLst>
              <a:path h="725719" w="699411">
                <a:moveTo>
                  <a:pt x="0" y="0"/>
                </a:moveTo>
                <a:lnTo>
                  <a:pt x="699411" y="0"/>
                </a:lnTo>
                <a:lnTo>
                  <a:pt x="699411" y="725719"/>
                </a:lnTo>
                <a:lnTo>
                  <a:pt x="0" y="725719"/>
                </a:lnTo>
                <a:lnTo>
                  <a:pt x="0" y="0"/>
                </a:lnTo>
                <a:close/>
              </a:path>
            </a:pathLst>
          </a:custGeom>
          <a:blipFill>
            <a:blip r:embed="rId6"/>
            <a:stretch>
              <a:fillRect l="0" t="0" r="0" b="0"/>
            </a:stretch>
          </a:blipFill>
        </p:spPr>
      </p:sp>
      <p:sp>
        <p:nvSpPr>
          <p:cNvPr name="Freeform 26" id="26"/>
          <p:cNvSpPr/>
          <p:nvPr/>
        </p:nvSpPr>
        <p:spPr>
          <a:xfrm flipH="false" flipV="false" rot="0">
            <a:off x="977786" y="7241371"/>
            <a:ext cx="679484" cy="678190"/>
          </a:xfrm>
          <a:custGeom>
            <a:avLst/>
            <a:gdLst/>
            <a:ahLst/>
            <a:cxnLst/>
            <a:rect r="r" b="b" t="t" l="l"/>
            <a:pathLst>
              <a:path h="678190" w="679484">
                <a:moveTo>
                  <a:pt x="0" y="0"/>
                </a:moveTo>
                <a:lnTo>
                  <a:pt x="679484" y="0"/>
                </a:lnTo>
                <a:lnTo>
                  <a:pt x="679484" y="678189"/>
                </a:lnTo>
                <a:lnTo>
                  <a:pt x="0" y="678189"/>
                </a:lnTo>
                <a:lnTo>
                  <a:pt x="0" y="0"/>
                </a:lnTo>
                <a:close/>
              </a:path>
            </a:pathLst>
          </a:custGeom>
          <a:blipFill>
            <a:blip r:embed="rId7"/>
            <a:stretch>
              <a:fillRect l="0" t="0" r="0" b="0"/>
            </a:stretch>
          </a:blipFill>
        </p:spPr>
      </p:sp>
      <p:sp>
        <p:nvSpPr>
          <p:cNvPr name="Freeform 27" id="27"/>
          <p:cNvSpPr/>
          <p:nvPr/>
        </p:nvSpPr>
        <p:spPr>
          <a:xfrm flipH="false" flipV="false" rot="0">
            <a:off x="9295524" y="7144761"/>
            <a:ext cx="629603" cy="687328"/>
          </a:xfrm>
          <a:custGeom>
            <a:avLst/>
            <a:gdLst/>
            <a:ahLst/>
            <a:cxnLst/>
            <a:rect r="r" b="b" t="t" l="l"/>
            <a:pathLst>
              <a:path h="687328" w="629603">
                <a:moveTo>
                  <a:pt x="0" y="0"/>
                </a:moveTo>
                <a:lnTo>
                  <a:pt x="629603" y="0"/>
                </a:lnTo>
                <a:lnTo>
                  <a:pt x="629603" y="687328"/>
                </a:lnTo>
                <a:lnTo>
                  <a:pt x="0" y="687328"/>
                </a:lnTo>
                <a:lnTo>
                  <a:pt x="0" y="0"/>
                </a:lnTo>
                <a:close/>
              </a:path>
            </a:pathLst>
          </a:custGeom>
          <a:blipFill>
            <a:blip r:embed="rId8"/>
            <a:stretch>
              <a:fillRect l="0" t="0" r="0" b="0"/>
            </a:stretch>
          </a:blipFill>
        </p:spPr>
      </p:sp>
      <p:sp>
        <p:nvSpPr>
          <p:cNvPr name="TextBox 28" id="28"/>
          <p:cNvSpPr txBox="true"/>
          <p:nvPr/>
        </p:nvSpPr>
        <p:spPr>
          <a:xfrm rot="0">
            <a:off x="5975475" y="1602040"/>
            <a:ext cx="4927351" cy="758825"/>
          </a:xfrm>
          <a:prstGeom prst="rect">
            <a:avLst/>
          </a:prstGeom>
        </p:spPr>
        <p:txBody>
          <a:bodyPr anchor="t" rtlCol="false" tIns="0" lIns="0" bIns="0" rIns="0">
            <a:spAutoFit/>
          </a:bodyPr>
          <a:lstStyle/>
          <a:p>
            <a:pPr algn="ctr" marL="0" indent="0" lvl="0">
              <a:lnSpc>
                <a:spcPts val="5650"/>
              </a:lnSpc>
            </a:pPr>
            <a:r>
              <a:rPr lang="en-US" b="true" sz="5000" spc="-210">
                <a:solidFill>
                  <a:srgbClr val="008080"/>
                </a:solidFill>
                <a:latin typeface="Times New Roman Bold"/>
                <a:ea typeface="Times New Roman Bold"/>
                <a:cs typeface="Times New Roman Bold"/>
                <a:sym typeface="Times New Roman Bold"/>
              </a:rPr>
              <a:t>Công nghệ sử dụng</a:t>
            </a:r>
          </a:p>
        </p:txBody>
      </p:sp>
      <p:sp>
        <p:nvSpPr>
          <p:cNvPr name="TextBox 29" id="29"/>
          <p:cNvSpPr txBox="true"/>
          <p:nvPr/>
        </p:nvSpPr>
        <p:spPr>
          <a:xfrm rot="0">
            <a:off x="1028700" y="2645410"/>
            <a:ext cx="16230600" cy="2108200"/>
          </a:xfrm>
          <a:prstGeom prst="rect">
            <a:avLst/>
          </a:prstGeom>
        </p:spPr>
        <p:txBody>
          <a:bodyPr anchor="t" rtlCol="false" tIns="0" lIns="0" bIns="0" rIns="0">
            <a:spAutoFit/>
          </a:bodyPr>
          <a:lstStyle/>
          <a:p>
            <a:pPr algn="l" marL="0" indent="0" lvl="0">
              <a:lnSpc>
                <a:spcPts val="5599"/>
              </a:lnSpc>
              <a:spcBef>
                <a:spcPct val="0"/>
              </a:spcBef>
            </a:pPr>
            <a:r>
              <a:rPr lang="en-US" sz="3999">
                <a:solidFill>
                  <a:srgbClr val="008080"/>
                </a:solidFill>
                <a:latin typeface="Times New Roman"/>
                <a:ea typeface="Times New Roman"/>
                <a:cs typeface="Times New Roman"/>
                <a:sym typeface="Times New Roman"/>
              </a:rPr>
              <a:t>Dự án sử dụng các công nghệ lập trình web hiện đại, kết hợp giao diện, xử lý dữ liệu phía server và quản trị cơ sở dữ liệu để xây dựng hệ thống tra cứu điểm chuẩn hoàn chỉnh.</a:t>
            </a:r>
          </a:p>
        </p:txBody>
      </p:sp>
      <p:sp>
        <p:nvSpPr>
          <p:cNvPr name="TextBox 30" id="30"/>
          <p:cNvSpPr txBox="true"/>
          <p:nvPr/>
        </p:nvSpPr>
        <p:spPr>
          <a:xfrm rot="0">
            <a:off x="1947362" y="7311091"/>
            <a:ext cx="6448946" cy="587068"/>
          </a:xfrm>
          <a:prstGeom prst="rect">
            <a:avLst/>
          </a:prstGeom>
        </p:spPr>
        <p:txBody>
          <a:bodyPr anchor="t" rtlCol="false" tIns="0" lIns="0" bIns="0" rIns="0">
            <a:spAutoFit/>
          </a:bodyPr>
          <a:lstStyle/>
          <a:p>
            <a:pPr algn="l" marL="0" indent="0" lvl="0">
              <a:lnSpc>
                <a:spcPts val="4371"/>
              </a:lnSpc>
            </a:pPr>
            <a:r>
              <a:rPr lang="en-US" b="true" sz="3868" spc="-162">
                <a:solidFill>
                  <a:srgbClr val="FFFFFF"/>
                </a:solidFill>
                <a:latin typeface="Times New Roman Bold"/>
                <a:ea typeface="Times New Roman Bold"/>
                <a:cs typeface="Times New Roman Bold"/>
                <a:sym typeface="Times New Roman Bold"/>
              </a:rPr>
              <a:t>JavaScript - Tương tác giao diện</a:t>
            </a:r>
          </a:p>
        </p:txBody>
      </p:sp>
      <p:sp>
        <p:nvSpPr>
          <p:cNvPr name="TextBox 31" id="31"/>
          <p:cNvSpPr txBox="true"/>
          <p:nvPr/>
        </p:nvSpPr>
        <p:spPr>
          <a:xfrm rot="0">
            <a:off x="11278266" y="5530536"/>
            <a:ext cx="6054469" cy="587068"/>
          </a:xfrm>
          <a:prstGeom prst="rect">
            <a:avLst/>
          </a:prstGeom>
        </p:spPr>
        <p:txBody>
          <a:bodyPr anchor="t" rtlCol="false" tIns="0" lIns="0" bIns="0" rIns="0">
            <a:spAutoFit/>
          </a:bodyPr>
          <a:lstStyle/>
          <a:p>
            <a:pPr algn="l" marL="0" indent="0" lvl="0">
              <a:lnSpc>
                <a:spcPts val="4371"/>
              </a:lnSpc>
            </a:pPr>
            <a:r>
              <a:rPr lang="en-US" b="true" sz="3868" spc="-162">
                <a:solidFill>
                  <a:srgbClr val="FFFFFF"/>
                </a:solidFill>
                <a:latin typeface="Times New Roman Bold"/>
                <a:ea typeface="Times New Roman Bold"/>
                <a:cs typeface="Times New Roman Bold"/>
                <a:sym typeface="Times New Roman Bold"/>
              </a:rPr>
              <a:t>CSS, Bootstrap - Thiết kế UI</a:t>
            </a:r>
          </a:p>
        </p:txBody>
      </p:sp>
      <p:sp>
        <p:nvSpPr>
          <p:cNvPr name="TextBox 32" id="32"/>
          <p:cNvSpPr txBox="true"/>
          <p:nvPr/>
        </p:nvSpPr>
        <p:spPr>
          <a:xfrm rot="0">
            <a:off x="10009619" y="7311091"/>
            <a:ext cx="7692544" cy="587068"/>
          </a:xfrm>
          <a:prstGeom prst="rect">
            <a:avLst/>
          </a:prstGeom>
        </p:spPr>
        <p:txBody>
          <a:bodyPr anchor="t" rtlCol="false" tIns="0" lIns="0" bIns="0" rIns="0">
            <a:spAutoFit/>
          </a:bodyPr>
          <a:lstStyle/>
          <a:p>
            <a:pPr algn="l" marL="0" indent="0" lvl="0">
              <a:lnSpc>
                <a:spcPts val="4371"/>
              </a:lnSpc>
            </a:pPr>
            <a:r>
              <a:rPr lang="en-US" b="true" sz="3868" spc="-162">
                <a:solidFill>
                  <a:srgbClr val="FFFFFF"/>
                </a:solidFill>
                <a:latin typeface="Times New Roman Bold"/>
                <a:ea typeface="Times New Roman Bold"/>
                <a:cs typeface="Times New Roman Bold"/>
                <a:sym typeface="Times New Roman Bold"/>
              </a:rPr>
              <a:t>PHP - Xử lý server &amp; MySQL - Dữ liệu</a:t>
            </a:r>
          </a:p>
        </p:txBody>
      </p:sp>
      <p:sp>
        <p:nvSpPr>
          <p:cNvPr name="Freeform 33" id="33"/>
          <p:cNvSpPr/>
          <p:nvPr/>
        </p:nvSpPr>
        <p:spPr>
          <a:xfrm flipH="false" flipV="false" rot="0">
            <a:off x="10390613" y="5463269"/>
            <a:ext cx="733109" cy="730360"/>
          </a:xfrm>
          <a:custGeom>
            <a:avLst/>
            <a:gdLst/>
            <a:ahLst/>
            <a:cxnLst/>
            <a:rect r="r" b="b" t="t" l="l"/>
            <a:pathLst>
              <a:path h="730360" w="733109">
                <a:moveTo>
                  <a:pt x="0" y="0"/>
                </a:moveTo>
                <a:lnTo>
                  <a:pt x="733108" y="0"/>
                </a:lnTo>
                <a:lnTo>
                  <a:pt x="733108" y="730359"/>
                </a:lnTo>
                <a:lnTo>
                  <a:pt x="0" y="730359"/>
                </a:lnTo>
                <a:lnTo>
                  <a:pt x="0" y="0"/>
                </a:lnTo>
                <a:close/>
              </a:path>
            </a:pathLst>
          </a:custGeom>
          <a:blipFill>
            <a:blip r:embed="rId9"/>
            <a:stretch>
              <a:fillRect l="0" t="0" r="0" b="0"/>
            </a:stretch>
          </a:blipFill>
        </p:spPr>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8016535" y="342805"/>
            <a:ext cx="10271465" cy="1261095"/>
            <a:chOff x="0" y="0"/>
            <a:chExt cx="13695286" cy="1681460"/>
          </a:xfrm>
        </p:grpSpPr>
        <p:sp>
          <p:nvSpPr>
            <p:cNvPr name="Freeform 4" id="4"/>
            <p:cNvSpPr/>
            <p:nvPr/>
          </p:nvSpPr>
          <p:spPr>
            <a:xfrm flipH="false" flipV="false" rot="0">
              <a:off x="0" y="0"/>
              <a:ext cx="13695283" cy="1681465"/>
            </a:xfrm>
            <a:custGeom>
              <a:avLst/>
              <a:gdLst/>
              <a:ahLst/>
              <a:cxnLst/>
              <a:rect r="r" b="b" t="t" l="l"/>
              <a:pathLst>
                <a:path h="1681465" w="13695283">
                  <a:moveTo>
                    <a:pt x="0" y="0"/>
                  </a:moveTo>
                  <a:lnTo>
                    <a:pt x="13695283" y="0"/>
                  </a:lnTo>
                  <a:lnTo>
                    <a:pt x="13695283" y="1681465"/>
                  </a:lnTo>
                  <a:lnTo>
                    <a:pt x="0" y="1681465"/>
                  </a:lnTo>
                  <a:close/>
                </a:path>
              </a:pathLst>
            </a:custGeom>
            <a:blipFill>
              <a:blip r:embed="rId3">
                <a:alphaModFix amt="0"/>
              </a:blip>
              <a:stretch>
                <a:fillRect l="0" t="-117720" r="0" b="-99684"/>
              </a:stretch>
            </a:blipFill>
          </p:spPr>
        </p:sp>
        <p:sp>
          <p:nvSpPr>
            <p:cNvPr name="TextBox 5" id="5"/>
            <p:cNvSpPr txBox="true"/>
            <p:nvPr/>
          </p:nvSpPr>
          <p:spPr>
            <a:xfrm>
              <a:off x="0" y="-28575"/>
              <a:ext cx="13695286" cy="1710035"/>
            </a:xfrm>
            <a:prstGeom prst="rect">
              <a:avLst/>
            </a:prstGeom>
          </p:spPr>
          <p:txBody>
            <a:bodyPr anchor="ctr" rtlCol="false" tIns="0" lIns="0" bIns="0" rIns="0"/>
            <a:lstStyle/>
            <a:p>
              <a:pPr algn="ctr">
                <a:lnSpc>
                  <a:spcPts val="4320"/>
                </a:lnSpc>
              </a:pPr>
              <a:r>
                <a:rPr lang="en-US" sz="3600" b="true">
                  <a:solidFill>
                    <a:srgbClr val="008080"/>
                  </a:solidFill>
                  <a:latin typeface="Times New Roman Bold"/>
                  <a:ea typeface="Times New Roman Bold"/>
                  <a:cs typeface="Times New Roman Bold"/>
                  <a:sym typeface="Times New Roman Bold"/>
                </a:rPr>
                <a:t>TRƯỜNG ĐẠI HỌC GIAO THÔNG VẬN TẢI </a:t>
              </a:r>
            </a:p>
            <a:p>
              <a:pPr algn="ctr">
                <a:lnSpc>
                  <a:spcPts val="4320"/>
                </a:lnSpc>
              </a:pPr>
              <a:r>
                <a:rPr lang="en-US" sz="3600" b="true">
                  <a:solidFill>
                    <a:srgbClr val="008080"/>
                  </a:solidFill>
                  <a:latin typeface="Times New Roman Bold"/>
                  <a:ea typeface="Times New Roman Bold"/>
                  <a:cs typeface="Times New Roman Bold"/>
                  <a:sym typeface="Times New Roman Bold"/>
                </a:rPr>
                <a:t>THÀNH PHỐ HỒ CHÍ MINH</a:t>
              </a:r>
            </a:p>
          </p:txBody>
        </p:sp>
      </p:grpSp>
      <p:sp>
        <p:nvSpPr>
          <p:cNvPr name="Freeform 6" id="6"/>
          <p:cNvSpPr/>
          <p:nvPr/>
        </p:nvSpPr>
        <p:spPr>
          <a:xfrm flipH="false" flipV="false" rot="0">
            <a:off x="16696246" y="7997142"/>
            <a:ext cx="1014510" cy="1005922"/>
          </a:xfrm>
          <a:custGeom>
            <a:avLst/>
            <a:gdLst/>
            <a:ahLst/>
            <a:cxnLst/>
            <a:rect r="r" b="b" t="t" l="l"/>
            <a:pathLst>
              <a:path h="1005922" w="1014510">
                <a:moveTo>
                  <a:pt x="0" y="0"/>
                </a:moveTo>
                <a:lnTo>
                  <a:pt x="1014510" y="0"/>
                </a:lnTo>
                <a:lnTo>
                  <a:pt x="1014510" y="1005921"/>
                </a:lnTo>
                <a:lnTo>
                  <a:pt x="0" y="1005921"/>
                </a:lnTo>
                <a:lnTo>
                  <a:pt x="0" y="0"/>
                </a:lnTo>
                <a:close/>
              </a:path>
            </a:pathLst>
          </a:custGeom>
          <a:blipFill>
            <a:blip r:embed="rId4">
              <a:extLst>
                <a:ext uri="{96DAC541-7B7A-43D3-8B79-37D633B846F1}">
                  <asvg:svgBlip xmlns:asvg="http://schemas.microsoft.com/office/drawing/2016/SVG/main" r:embed="rId5"/>
                </a:ext>
              </a:extLst>
            </a:blip>
            <a:stretch>
              <a:fillRect l="0" t="-106388" r="-103152" b="0"/>
            </a:stretch>
          </a:blipFill>
        </p:spPr>
      </p:sp>
      <p:sp>
        <p:nvSpPr>
          <p:cNvPr name="Freeform 7" id="7"/>
          <p:cNvSpPr/>
          <p:nvPr/>
        </p:nvSpPr>
        <p:spPr>
          <a:xfrm flipH="false" flipV="false" rot="0">
            <a:off x="2997177" y="2393734"/>
            <a:ext cx="12777029" cy="7588466"/>
          </a:xfrm>
          <a:custGeom>
            <a:avLst/>
            <a:gdLst/>
            <a:ahLst/>
            <a:cxnLst/>
            <a:rect r="r" b="b" t="t" l="l"/>
            <a:pathLst>
              <a:path h="7588466" w="12777029">
                <a:moveTo>
                  <a:pt x="0" y="0"/>
                </a:moveTo>
                <a:lnTo>
                  <a:pt x="12777029" y="0"/>
                </a:lnTo>
                <a:lnTo>
                  <a:pt x="12777029" y="7588466"/>
                </a:lnTo>
                <a:lnTo>
                  <a:pt x="0" y="7588466"/>
                </a:lnTo>
                <a:lnTo>
                  <a:pt x="0" y="0"/>
                </a:lnTo>
                <a:close/>
              </a:path>
            </a:pathLst>
          </a:custGeom>
          <a:blipFill>
            <a:blip r:embed="rId6"/>
            <a:stretch>
              <a:fillRect l="0" t="-1301" r="-619" b="-1301"/>
            </a:stretch>
          </a:blipFill>
        </p:spPr>
      </p:sp>
      <p:sp>
        <p:nvSpPr>
          <p:cNvPr name="Freeform 8" id="8"/>
          <p:cNvSpPr/>
          <p:nvPr/>
        </p:nvSpPr>
        <p:spPr>
          <a:xfrm flipH="true" flipV="false" rot="0">
            <a:off x="-5987658" y="5884414"/>
            <a:ext cx="24520492" cy="4402586"/>
          </a:xfrm>
          <a:custGeom>
            <a:avLst/>
            <a:gdLst/>
            <a:ahLst/>
            <a:cxnLst/>
            <a:rect r="r" b="b" t="t" l="l"/>
            <a:pathLst>
              <a:path h="4402586" w="24520492">
                <a:moveTo>
                  <a:pt x="24520491" y="0"/>
                </a:moveTo>
                <a:lnTo>
                  <a:pt x="0" y="0"/>
                </a:lnTo>
                <a:lnTo>
                  <a:pt x="0" y="4402586"/>
                </a:lnTo>
                <a:lnTo>
                  <a:pt x="24520491" y="4402586"/>
                </a:lnTo>
                <a:lnTo>
                  <a:pt x="24520491" y="0"/>
                </a:lnTo>
                <a:close/>
              </a:path>
            </a:pathLst>
          </a:custGeom>
          <a:blipFill>
            <a:blip r:embed="rId7">
              <a:alphaModFix amt="6000"/>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6308705" y="1392495"/>
            <a:ext cx="5708690" cy="892175"/>
          </a:xfrm>
          <a:prstGeom prst="rect">
            <a:avLst/>
          </a:prstGeom>
        </p:spPr>
        <p:txBody>
          <a:bodyPr anchor="t" rtlCol="false" tIns="0" lIns="0" bIns="0" rIns="0">
            <a:spAutoFit/>
          </a:bodyPr>
          <a:lstStyle/>
          <a:p>
            <a:pPr algn="ctr">
              <a:lnSpc>
                <a:spcPts val="7000"/>
              </a:lnSpc>
              <a:spcBef>
                <a:spcPct val="0"/>
              </a:spcBef>
            </a:pPr>
            <a:r>
              <a:rPr lang="en-US" b="true" sz="5000">
                <a:solidFill>
                  <a:srgbClr val="008080"/>
                </a:solidFill>
                <a:latin typeface="Times New Roman Bold"/>
                <a:ea typeface="Times New Roman Bold"/>
                <a:cs typeface="Times New Roman Bold"/>
                <a:sym typeface="Times New Roman Bold"/>
              </a:rPr>
              <a:t>Phân tích chức năng </a:t>
            </a:r>
          </a:p>
        </p:txBody>
      </p:sp>
      <p:grpSp>
        <p:nvGrpSpPr>
          <p:cNvPr name="Group 10" id="10"/>
          <p:cNvGrpSpPr/>
          <p:nvPr/>
        </p:nvGrpSpPr>
        <p:grpSpPr>
          <a:xfrm rot="-1168322">
            <a:off x="-3131143" y="5449870"/>
            <a:ext cx="7434779" cy="15382828"/>
            <a:chOff x="0" y="0"/>
            <a:chExt cx="1958131" cy="4051444"/>
          </a:xfrm>
        </p:grpSpPr>
        <p:sp>
          <p:nvSpPr>
            <p:cNvPr name="Freeform 11" id="11"/>
            <p:cNvSpPr/>
            <p:nvPr/>
          </p:nvSpPr>
          <p:spPr>
            <a:xfrm flipH="false" flipV="false" rot="0">
              <a:off x="0" y="0"/>
              <a:ext cx="1958131" cy="4051444"/>
            </a:xfrm>
            <a:custGeom>
              <a:avLst/>
              <a:gdLst/>
              <a:ahLst/>
              <a:cxnLst/>
              <a:rect r="r" b="b" t="t" l="l"/>
              <a:pathLst>
                <a:path h="4051444" w="1958131">
                  <a:moveTo>
                    <a:pt x="0" y="0"/>
                  </a:moveTo>
                  <a:lnTo>
                    <a:pt x="1958131" y="0"/>
                  </a:lnTo>
                  <a:lnTo>
                    <a:pt x="1958131" y="4051444"/>
                  </a:lnTo>
                  <a:lnTo>
                    <a:pt x="0" y="4051444"/>
                  </a:lnTo>
                  <a:close/>
                </a:path>
              </a:pathLst>
            </a:custGeom>
            <a:solidFill>
              <a:srgbClr val="20989B"/>
            </a:solidFill>
          </p:spPr>
        </p:sp>
        <p:sp>
          <p:nvSpPr>
            <p:cNvPr name="TextBox 12" id="12"/>
            <p:cNvSpPr txBox="true"/>
            <p:nvPr/>
          </p:nvSpPr>
          <p:spPr>
            <a:xfrm>
              <a:off x="0" y="-57150"/>
              <a:ext cx="1958131" cy="410859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3" id="13"/>
          <p:cNvGrpSpPr/>
          <p:nvPr/>
        </p:nvGrpSpPr>
        <p:grpSpPr>
          <a:xfrm rot="-1168322">
            <a:off x="-5370140" y="-1135164"/>
            <a:ext cx="6388981" cy="15382828"/>
            <a:chOff x="0" y="0"/>
            <a:chExt cx="1682695" cy="4051444"/>
          </a:xfrm>
        </p:grpSpPr>
        <p:sp>
          <p:nvSpPr>
            <p:cNvPr name="Freeform 14" id="14"/>
            <p:cNvSpPr/>
            <p:nvPr/>
          </p:nvSpPr>
          <p:spPr>
            <a:xfrm flipH="false" flipV="false" rot="0">
              <a:off x="0" y="0"/>
              <a:ext cx="1682695" cy="4051444"/>
            </a:xfrm>
            <a:custGeom>
              <a:avLst/>
              <a:gdLst/>
              <a:ahLst/>
              <a:cxnLst/>
              <a:rect r="r" b="b" t="t" l="l"/>
              <a:pathLst>
                <a:path h="4051444" w="1682695">
                  <a:moveTo>
                    <a:pt x="0" y="0"/>
                  </a:moveTo>
                  <a:lnTo>
                    <a:pt x="1682695" y="0"/>
                  </a:lnTo>
                  <a:lnTo>
                    <a:pt x="1682695" y="4051444"/>
                  </a:lnTo>
                  <a:lnTo>
                    <a:pt x="0" y="4051444"/>
                  </a:lnTo>
                  <a:close/>
                </a:path>
              </a:pathLst>
            </a:custGeom>
            <a:solidFill>
              <a:srgbClr val="39515A"/>
            </a:solidFill>
          </p:spPr>
        </p:sp>
        <p:sp>
          <p:nvSpPr>
            <p:cNvPr name="TextBox 15" id="15"/>
            <p:cNvSpPr txBox="true"/>
            <p:nvPr/>
          </p:nvSpPr>
          <p:spPr>
            <a:xfrm>
              <a:off x="0" y="-57150"/>
              <a:ext cx="1682695" cy="4108594"/>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6" id="16"/>
          <p:cNvSpPr/>
          <p:nvPr/>
        </p:nvSpPr>
        <p:spPr>
          <a:xfrm flipH="false" flipV="false" rot="0">
            <a:off x="375025" y="4261490"/>
            <a:ext cx="1764021" cy="1764021"/>
          </a:xfrm>
          <a:custGeom>
            <a:avLst/>
            <a:gdLst/>
            <a:ahLst/>
            <a:cxnLst/>
            <a:rect r="r" b="b" t="t" l="l"/>
            <a:pathLst>
              <a:path h="1764021" w="1764021">
                <a:moveTo>
                  <a:pt x="0" y="0"/>
                </a:moveTo>
                <a:lnTo>
                  <a:pt x="1764021" y="0"/>
                </a:lnTo>
                <a:lnTo>
                  <a:pt x="1764021" y="1764020"/>
                </a:lnTo>
                <a:lnTo>
                  <a:pt x="0" y="1764020"/>
                </a:lnTo>
                <a:lnTo>
                  <a:pt x="0" y="0"/>
                </a:lnTo>
                <a:close/>
              </a:path>
            </a:pathLst>
          </a:custGeom>
          <a:blipFill>
            <a:blip r:embed="rId9">
              <a:alphaModFix amt="44999"/>
              <a:extLst>
                <a:ext uri="{96DAC541-7B7A-43D3-8B79-37D633B846F1}">
                  <asvg:svgBlip xmlns:asvg="http://schemas.microsoft.com/office/drawing/2016/SVG/main" r:embed="rId10"/>
                </a:ext>
              </a:extLst>
            </a:blip>
            <a:stretch>
              <a:fillRect l="0" t="0" r="0" b="0"/>
            </a:stretch>
          </a:blipFill>
        </p:spPr>
      </p:sp>
    </p:spTree>
  </p:cSld>
  <p:clrMapOvr>
    <a:masterClrMapping/>
  </p:clrMapOvr>
  <p:transition spd="slow">
    <p:push dir="l"/>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8016535" y="342805"/>
            <a:ext cx="10271465" cy="1261095"/>
            <a:chOff x="0" y="0"/>
            <a:chExt cx="13695286" cy="1681460"/>
          </a:xfrm>
        </p:grpSpPr>
        <p:sp>
          <p:nvSpPr>
            <p:cNvPr name="Freeform 4" id="4"/>
            <p:cNvSpPr/>
            <p:nvPr/>
          </p:nvSpPr>
          <p:spPr>
            <a:xfrm flipH="false" flipV="false" rot="0">
              <a:off x="0" y="0"/>
              <a:ext cx="13695283" cy="1681465"/>
            </a:xfrm>
            <a:custGeom>
              <a:avLst/>
              <a:gdLst/>
              <a:ahLst/>
              <a:cxnLst/>
              <a:rect r="r" b="b" t="t" l="l"/>
              <a:pathLst>
                <a:path h="1681465" w="13695283">
                  <a:moveTo>
                    <a:pt x="0" y="0"/>
                  </a:moveTo>
                  <a:lnTo>
                    <a:pt x="13695283" y="0"/>
                  </a:lnTo>
                  <a:lnTo>
                    <a:pt x="13695283" y="1681465"/>
                  </a:lnTo>
                  <a:lnTo>
                    <a:pt x="0" y="1681465"/>
                  </a:lnTo>
                  <a:close/>
                </a:path>
              </a:pathLst>
            </a:custGeom>
            <a:blipFill>
              <a:blip r:embed="rId3">
                <a:alphaModFix amt="0"/>
              </a:blip>
              <a:stretch>
                <a:fillRect l="0" t="-117720" r="0" b="-99684"/>
              </a:stretch>
            </a:blipFill>
          </p:spPr>
        </p:sp>
        <p:sp>
          <p:nvSpPr>
            <p:cNvPr name="TextBox 5" id="5"/>
            <p:cNvSpPr txBox="true"/>
            <p:nvPr/>
          </p:nvSpPr>
          <p:spPr>
            <a:xfrm>
              <a:off x="0" y="-28575"/>
              <a:ext cx="13695286" cy="1710035"/>
            </a:xfrm>
            <a:prstGeom prst="rect">
              <a:avLst/>
            </a:prstGeom>
          </p:spPr>
          <p:txBody>
            <a:bodyPr anchor="ctr" rtlCol="false" tIns="0" lIns="0" bIns="0" rIns="0"/>
            <a:lstStyle/>
            <a:p>
              <a:pPr algn="ctr">
                <a:lnSpc>
                  <a:spcPts val="4320"/>
                </a:lnSpc>
              </a:pPr>
              <a:r>
                <a:rPr lang="en-US" sz="3600" b="true">
                  <a:solidFill>
                    <a:srgbClr val="008080"/>
                  </a:solidFill>
                  <a:latin typeface="Times New Roman Bold"/>
                  <a:ea typeface="Times New Roman Bold"/>
                  <a:cs typeface="Times New Roman Bold"/>
                  <a:sym typeface="Times New Roman Bold"/>
                </a:rPr>
                <a:t>TRƯỜNG ĐẠI HỌC GIAO THÔNG VẬN TẢI </a:t>
              </a:r>
            </a:p>
            <a:p>
              <a:pPr algn="ctr">
                <a:lnSpc>
                  <a:spcPts val="4320"/>
                </a:lnSpc>
              </a:pPr>
              <a:r>
                <a:rPr lang="en-US" sz="3600" b="true">
                  <a:solidFill>
                    <a:srgbClr val="008080"/>
                  </a:solidFill>
                  <a:latin typeface="Times New Roman Bold"/>
                  <a:ea typeface="Times New Roman Bold"/>
                  <a:cs typeface="Times New Roman Bold"/>
                  <a:sym typeface="Times New Roman Bold"/>
                </a:rPr>
                <a:t>THÀNH PHỐ HỒ CHÍ MINH</a:t>
              </a:r>
            </a:p>
          </p:txBody>
        </p:sp>
      </p:grpSp>
      <p:sp>
        <p:nvSpPr>
          <p:cNvPr name="Freeform 6" id="6"/>
          <p:cNvSpPr/>
          <p:nvPr/>
        </p:nvSpPr>
        <p:spPr>
          <a:xfrm flipH="false" flipV="false" rot="0">
            <a:off x="8257636" y="1376448"/>
            <a:ext cx="9479546" cy="8543441"/>
          </a:xfrm>
          <a:custGeom>
            <a:avLst/>
            <a:gdLst/>
            <a:ahLst/>
            <a:cxnLst/>
            <a:rect r="r" b="b" t="t" l="l"/>
            <a:pathLst>
              <a:path h="8543441" w="9479546">
                <a:moveTo>
                  <a:pt x="0" y="0"/>
                </a:moveTo>
                <a:lnTo>
                  <a:pt x="9479546" y="0"/>
                </a:lnTo>
                <a:lnTo>
                  <a:pt x="9479546" y="8543441"/>
                </a:lnTo>
                <a:lnTo>
                  <a:pt x="0" y="8543441"/>
                </a:lnTo>
                <a:lnTo>
                  <a:pt x="0" y="0"/>
                </a:lnTo>
                <a:close/>
              </a:path>
            </a:pathLst>
          </a:custGeom>
          <a:blipFill>
            <a:blip r:embed="rId4"/>
            <a:stretch>
              <a:fillRect l="0" t="0" r="0" b="0"/>
            </a:stretch>
          </a:blipFill>
        </p:spPr>
      </p:sp>
      <p:grpSp>
        <p:nvGrpSpPr>
          <p:cNvPr name="Group 7" id="7"/>
          <p:cNvGrpSpPr/>
          <p:nvPr/>
        </p:nvGrpSpPr>
        <p:grpSpPr>
          <a:xfrm rot="0">
            <a:off x="787161" y="3058330"/>
            <a:ext cx="7625333" cy="5541554"/>
            <a:chOff x="0" y="0"/>
            <a:chExt cx="2008318" cy="1459504"/>
          </a:xfrm>
        </p:grpSpPr>
        <p:sp>
          <p:nvSpPr>
            <p:cNvPr name="Freeform 8" id="8"/>
            <p:cNvSpPr/>
            <p:nvPr/>
          </p:nvSpPr>
          <p:spPr>
            <a:xfrm flipH="false" flipV="false" rot="0">
              <a:off x="0" y="0"/>
              <a:ext cx="2008318" cy="1459504"/>
            </a:xfrm>
            <a:custGeom>
              <a:avLst/>
              <a:gdLst/>
              <a:ahLst/>
              <a:cxnLst/>
              <a:rect r="r" b="b" t="t" l="l"/>
              <a:pathLst>
                <a:path h="1459504" w="2008318">
                  <a:moveTo>
                    <a:pt x="51780" y="0"/>
                  </a:moveTo>
                  <a:lnTo>
                    <a:pt x="1956539" y="0"/>
                  </a:lnTo>
                  <a:cubicBezTo>
                    <a:pt x="1985136" y="0"/>
                    <a:pt x="2008318" y="23183"/>
                    <a:pt x="2008318" y="51780"/>
                  </a:cubicBezTo>
                  <a:lnTo>
                    <a:pt x="2008318" y="1407724"/>
                  </a:lnTo>
                  <a:cubicBezTo>
                    <a:pt x="2008318" y="1436321"/>
                    <a:pt x="1985136" y="1459504"/>
                    <a:pt x="1956539" y="1459504"/>
                  </a:cubicBezTo>
                  <a:lnTo>
                    <a:pt x="51780" y="1459504"/>
                  </a:lnTo>
                  <a:cubicBezTo>
                    <a:pt x="23183" y="1459504"/>
                    <a:pt x="0" y="1436321"/>
                    <a:pt x="0" y="1407724"/>
                  </a:cubicBezTo>
                  <a:lnTo>
                    <a:pt x="0" y="51780"/>
                  </a:lnTo>
                  <a:cubicBezTo>
                    <a:pt x="0" y="23183"/>
                    <a:pt x="23183" y="0"/>
                    <a:pt x="51780" y="0"/>
                  </a:cubicBezTo>
                  <a:close/>
                </a:path>
              </a:pathLst>
            </a:custGeom>
            <a:solidFill>
              <a:srgbClr val="EFEEFB"/>
            </a:solidFill>
          </p:spPr>
        </p:sp>
        <p:sp>
          <p:nvSpPr>
            <p:cNvPr name="TextBox 9" id="9"/>
            <p:cNvSpPr txBox="true"/>
            <p:nvPr/>
          </p:nvSpPr>
          <p:spPr>
            <a:xfrm>
              <a:off x="0" y="-57150"/>
              <a:ext cx="2008318" cy="1516654"/>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028700" y="3282929"/>
            <a:ext cx="10929962" cy="4937125"/>
          </a:xfrm>
          <a:prstGeom prst="rect">
            <a:avLst/>
          </a:prstGeom>
        </p:spPr>
        <p:txBody>
          <a:bodyPr anchor="t" rtlCol="false" tIns="0" lIns="0" bIns="0" rIns="0">
            <a:spAutoFit/>
          </a:bodyPr>
          <a:lstStyle/>
          <a:p>
            <a:pPr algn="l">
              <a:lnSpc>
                <a:spcPts val="5600"/>
              </a:lnSpc>
              <a:spcBef>
                <a:spcPct val="0"/>
              </a:spcBef>
            </a:pPr>
            <a:r>
              <a:rPr lang="en-US" b="true" sz="4000">
                <a:solidFill>
                  <a:srgbClr val="008080"/>
                </a:solidFill>
                <a:latin typeface="Times New Roman Bold"/>
                <a:ea typeface="Times New Roman Bold"/>
                <a:cs typeface="Times New Roman Bold"/>
                <a:sym typeface="Times New Roman Bold"/>
              </a:rPr>
              <a:t>Các bảng chính</a:t>
            </a:r>
          </a:p>
          <a:p>
            <a:pPr algn="l">
              <a:lnSpc>
                <a:spcPts val="5600"/>
              </a:lnSpc>
              <a:spcBef>
                <a:spcPct val="0"/>
              </a:spcBef>
            </a:pPr>
            <a:r>
              <a:rPr lang="en-US" b="true" sz="4000">
                <a:solidFill>
                  <a:srgbClr val="008080"/>
                </a:solidFill>
                <a:latin typeface="Times New Roman Bold"/>
                <a:ea typeface="Times New Roman Bold"/>
                <a:cs typeface="Times New Roman Bold"/>
                <a:sym typeface="Times New Roman Bold"/>
              </a:rPr>
              <a:t>users </a:t>
            </a:r>
            <a:r>
              <a:rPr lang="en-US" sz="4000">
                <a:solidFill>
                  <a:srgbClr val="008080"/>
                </a:solidFill>
                <a:latin typeface="Times New Roman"/>
                <a:ea typeface="Times New Roman"/>
                <a:cs typeface="Times New Roman"/>
                <a:sym typeface="Times New Roman"/>
              </a:rPr>
              <a:t>- tài khoản &amp; phân quyền</a:t>
            </a:r>
          </a:p>
          <a:p>
            <a:pPr algn="l">
              <a:lnSpc>
                <a:spcPts val="5600"/>
              </a:lnSpc>
              <a:spcBef>
                <a:spcPct val="0"/>
              </a:spcBef>
            </a:pPr>
            <a:r>
              <a:rPr lang="en-US" b="true" sz="4000">
                <a:solidFill>
                  <a:srgbClr val="008080"/>
                </a:solidFill>
                <a:latin typeface="Times New Roman Bold"/>
                <a:ea typeface="Times New Roman Bold"/>
                <a:cs typeface="Times New Roman Bold"/>
                <a:sym typeface="Times New Roman Bold"/>
              </a:rPr>
              <a:t>universities </a:t>
            </a:r>
            <a:r>
              <a:rPr lang="en-US" sz="4000">
                <a:solidFill>
                  <a:srgbClr val="008080"/>
                </a:solidFill>
                <a:latin typeface="Times New Roman"/>
                <a:ea typeface="Times New Roman"/>
                <a:cs typeface="Times New Roman"/>
                <a:sym typeface="Times New Roman"/>
              </a:rPr>
              <a:t>- thông tin trường ĐH</a:t>
            </a:r>
          </a:p>
          <a:p>
            <a:pPr algn="l">
              <a:lnSpc>
                <a:spcPts val="5600"/>
              </a:lnSpc>
              <a:spcBef>
                <a:spcPct val="0"/>
              </a:spcBef>
            </a:pPr>
            <a:r>
              <a:rPr lang="en-US" b="true" sz="4000">
                <a:solidFill>
                  <a:srgbClr val="008080"/>
                </a:solidFill>
                <a:latin typeface="Times New Roman Bold"/>
                <a:ea typeface="Times New Roman Bold"/>
                <a:cs typeface="Times New Roman Bold"/>
                <a:sym typeface="Times New Roman Bold"/>
              </a:rPr>
              <a:t>majors </a:t>
            </a:r>
            <a:r>
              <a:rPr lang="en-US" sz="4000">
                <a:solidFill>
                  <a:srgbClr val="008080"/>
                </a:solidFill>
                <a:latin typeface="Times New Roman"/>
                <a:ea typeface="Times New Roman"/>
                <a:cs typeface="Times New Roman"/>
                <a:sym typeface="Times New Roman"/>
              </a:rPr>
              <a:t>-  danh sách ngành học</a:t>
            </a:r>
          </a:p>
          <a:p>
            <a:pPr algn="l">
              <a:lnSpc>
                <a:spcPts val="5600"/>
              </a:lnSpc>
              <a:spcBef>
                <a:spcPct val="0"/>
              </a:spcBef>
            </a:pPr>
            <a:r>
              <a:rPr lang="en-US" b="true" sz="4000">
                <a:solidFill>
                  <a:srgbClr val="008080"/>
                </a:solidFill>
                <a:latin typeface="Times New Roman Bold"/>
                <a:ea typeface="Times New Roman Bold"/>
                <a:cs typeface="Times New Roman Bold"/>
                <a:sym typeface="Times New Roman Bold"/>
              </a:rPr>
              <a:t>admission_scores </a:t>
            </a:r>
            <a:r>
              <a:rPr lang="en-US" sz="4000">
                <a:solidFill>
                  <a:srgbClr val="008080"/>
                </a:solidFill>
                <a:latin typeface="Times New Roman"/>
                <a:ea typeface="Times New Roman"/>
                <a:cs typeface="Times New Roman"/>
                <a:sym typeface="Times New Roman"/>
              </a:rPr>
              <a:t>-  điểm chuẩn </a:t>
            </a:r>
          </a:p>
          <a:p>
            <a:pPr algn="l">
              <a:lnSpc>
                <a:spcPts val="5600"/>
              </a:lnSpc>
              <a:spcBef>
                <a:spcPct val="0"/>
              </a:spcBef>
            </a:pPr>
            <a:r>
              <a:rPr lang="en-US" sz="4000">
                <a:solidFill>
                  <a:srgbClr val="008080"/>
                </a:solidFill>
                <a:latin typeface="Times New Roman"/>
                <a:ea typeface="Times New Roman"/>
                <a:cs typeface="Times New Roman"/>
                <a:sym typeface="Times New Roman"/>
              </a:rPr>
              <a:t>theo năm</a:t>
            </a:r>
          </a:p>
          <a:p>
            <a:pPr algn="l">
              <a:lnSpc>
                <a:spcPts val="5600"/>
              </a:lnSpc>
              <a:spcBef>
                <a:spcPct val="0"/>
              </a:spcBef>
            </a:pPr>
            <a:r>
              <a:rPr lang="en-US" b="true" sz="4000">
                <a:solidFill>
                  <a:srgbClr val="008080"/>
                </a:solidFill>
                <a:latin typeface="Times New Roman Bold"/>
                <a:ea typeface="Times New Roman Bold"/>
                <a:cs typeface="Times New Roman Bold"/>
                <a:sym typeface="Times New Roman Bold"/>
              </a:rPr>
              <a:t>ai_logs </a:t>
            </a:r>
            <a:r>
              <a:rPr lang="en-US" sz="4000">
                <a:solidFill>
                  <a:srgbClr val="008080"/>
                </a:solidFill>
                <a:latin typeface="Times New Roman"/>
                <a:ea typeface="Times New Roman"/>
                <a:cs typeface="Times New Roman"/>
                <a:sym typeface="Times New Roman"/>
              </a:rPr>
              <a:t>- log gợi ý trường</a:t>
            </a:r>
          </a:p>
        </p:txBody>
      </p:sp>
      <p:sp>
        <p:nvSpPr>
          <p:cNvPr name="TextBox 11" id="11"/>
          <p:cNvSpPr txBox="true"/>
          <p:nvPr/>
        </p:nvSpPr>
        <p:spPr>
          <a:xfrm rot="0">
            <a:off x="787161" y="1861355"/>
            <a:ext cx="6164818" cy="892175"/>
          </a:xfrm>
          <a:prstGeom prst="rect">
            <a:avLst/>
          </a:prstGeom>
        </p:spPr>
        <p:txBody>
          <a:bodyPr anchor="t" rtlCol="false" tIns="0" lIns="0" bIns="0" rIns="0">
            <a:spAutoFit/>
          </a:bodyPr>
          <a:lstStyle/>
          <a:p>
            <a:pPr algn="ctr">
              <a:lnSpc>
                <a:spcPts val="7000"/>
              </a:lnSpc>
              <a:spcBef>
                <a:spcPct val="0"/>
              </a:spcBef>
            </a:pPr>
            <a:r>
              <a:rPr lang="en-US" b="true" sz="5000">
                <a:solidFill>
                  <a:srgbClr val="008080"/>
                </a:solidFill>
                <a:latin typeface="Times New Roman Bold"/>
                <a:ea typeface="Times New Roman Bold"/>
                <a:cs typeface="Times New Roman Bold"/>
                <a:sym typeface="Times New Roman Bold"/>
              </a:rPr>
              <a:t>Thiết kế Cơ sở dữ liệu </a:t>
            </a: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8016535" y="342805"/>
            <a:ext cx="10271465" cy="1261095"/>
            <a:chOff x="0" y="0"/>
            <a:chExt cx="13695286" cy="1681460"/>
          </a:xfrm>
        </p:grpSpPr>
        <p:sp>
          <p:nvSpPr>
            <p:cNvPr name="Freeform 4" id="4"/>
            <p:cNvSpPr/>
            <p:nvPr/>
          </p:nvSpPr>
          <p:spPr>
            <a:xfrm flipH="false" flipV="false" rot="0">
              <a:off x="0" y="0"/>
              <a:ext cx="13695283" cy="1681465"/>
            </a:xfrm>
            <a:custGeom>
              <a:avLst/>
              <a:gdLst/>
              <a:ahLst/>
              <a:cxnLst/>
              <a:rect r="r" b="b" t="t" l="l"/>
              <a:pathLst>
                <a:path h="1681465" w="13695283">
                  <a:moveTo>
                    <a:pt x="0" y="0"/>
                  </a:moveTo>
                  <a:lnTo>
                    <a:pt x="13695283" y="0"/>
                  </a:lnTo>
                  <a:lnTo>
                    <a:pt x="13695283" y="1681465"/>
                  </a:lnTo>
                  <a:lnTo>
                    <a:pt x="0" y="1681465"/>
                  </a:lnTo>
                  <a:close/>
                </a:path>
              </a:pathLst>
            </a:custGeom>
            <a:blipFill>
              <a:blip r:embed="rId3">
                <a:alphaModFix amt="0"/>
              </a:blip>
              <a:stretch>
                <a:fillRect l="0" t="-117720" r="0" b="-99684"/>
              </a:stretch>
            </a:blipFill>
          </p:spPr>
        </p:sp>
        <p:sp>
          <p:nvSpPr>
            <p:cNvPr name="TextBox 5" id="5"/>
            <p:cNvSpPr txBox="true"/>
            <p:nvPr/>
          </p:nvSpPr>
          <p:spPr>
            <a:xfrm>
              <a:off x="0" y="-28575"/>
              <a:ext cx="13695286" cy="1710035"/>
            </a:xfrm>
            <a:prstGeom prst="rect">
              <a:avLst/>
            </a:prstGeom>
          </p:spPr>
          <p:txBody>
            <a:bodyPr anchor="ctr" rtlCol="false" tIns="0" lIns="0" bIns="0" rIns="0"/>
            <a:lstStyle/>
            <a:p>
              <a:pPr algn="ctr">
                <a:lnSpc>
                  <a:spcPts val="4320"/>
                </a:lnSpc>
              </a:pPr>
              <a:r>
                <a:rPr lang="en-US" b="true" sz="3600">
                  <a:solidFill>
                    <a:srgbClr val="008080"/>
                  </a:solidFill>
                  <a:latin typeface="Times New Roman Bold"/>
                  <a:ea typeface="Times New Roman Bold"/>
                  <a:cs typeface="Times New Roman Bold"/>
                  <a:sym typeface="Times New Roman Bold"/>
                </a:rPr>
                <a:t>TRƯỜNG ĐẠI HỌC GIAO THÔNG VẬN TẢI </a:t>
              </a:r>
            </a:p>
            <a:p>
              <a:pPr algn="ctr">
                <a:lnSpc>
                  <a:spcPts val="4320"/>
                </a:lnSpc>
              </a:pPr>
              <a:r>
                <a:rPr lang="en-US" b="true" sz="3600">
                  <a:solidFill>
                    <a:srgbClr val="008080"/>
                  </a:solidFill>
                  <a:latin typeface="Times New Roman Bold"/>
                  <a:ea typeface="Times New Roman Bold"/>
                  <a:cs typeface="Times New Roman Bold"/>
                  <a:sym typeface="Times New Roman Bold"/>
                </a:rPr>
                <a:t>THÀNH PHỐ HỒ CHÍ MINH</a:t>
              </a:r>
            </a:p>
          </p:txBody>
        </p:sp>
      </p:grpSp>
      <p:sp>
        <p:nvSpPr>
          <p:cNvPr name="TextBox 6" id="6"/>
          <p:cNvSpPr txBox="true"/>
          <p:nvPr/>
        </p:nvSpPr>
        <p:spPr>
          <a:xfrm rot="0">
            <a:off x="6745129" y="1870245"/>
            <a:ext cx="4797743" cy="800100"/>
          </a:xfrm>
          <a:prstGeom prst="rect">
            <a:avLst/>
          </a:prstGeom>
        </p:spPr>
        <p:txBody>
          <a:bodyPr anchor="t" rtlCol="false" tIns="0" lIns="0" bIns="0" rIns="0">
            <a:spAutoFit/>
          </a:bodyPr>
          <a:lstStyle/>
          <a:p>
            <a:pPr algn="ctr">
              <a:lnSpc>
                <a:spcPts val="6000"/>
              </a:lnSpc>
              <a:spcBef>
                <a:spcPct val="0"/>
              </a:spcBef>
            </a:pPr>
            <a:r>
              <a:rPr lang="en-US" b="true" sz="5000">
                <a:solidFill>
                  <a:srgbClr val="008080"/>
                </a:solidFill>
                <a:latin typeface="Times New Roman Bold"/>
                <a:ea typeface="Times New Roman Bold"/>
                <a:cs typeface="Times New Roman Bold"/>
                <a:sym typeface="Times New Roman Bold"/>
              </a:rPr>
              <a:t>Xử Lý Nghiệp Vụ</a:t>
            </a:r>
          </a:p>
        </p:txBody>
      </p:sp>
      <p:grpSp>
        <p:nvGrpSpPr>
          <p:cNvPr name="Group 7" id="7"/>
          <p:cNvGrpSpPr/>
          <p:nvPr/>
        </p:nvGrpSpPr>
        <p:grpSpPr>
          <a:xfrm rot="0">
            <a:off x="300380" y="3855475"/>
            <a:ext cx="8843620" cy="3579483"/>
            <a:chOff x="0" y="0"/>
            <a:chExt cx="2329184" cy="942744"/>
          </a:xfrm>
        </p:grpSpPr>
        <p:sp>
          <p:nvSpPr>
            <p:cNvPr name="Freeform 8" id="8"/>
            <p:cNvSpPr/>
            <p:nvPr/>
          </p:nvSpPr>
          <p:spPr>
            <a:xfrm flipH="false" flipV="false" rot="0">
              <a:off x="0" y="0"/>
              <a:ext cx="2329184" cy="942744"/>
            </a:xfrm>
            <a:custGeom>
              <a:avLst/>
              <a:gdLst/>
              <a:ahLst/>
              <a:cxnLst/>
              <a:rect r="r" b="b" t="t" l="l"/>
              <a:pathLst>
                <a:path h="942744" w="2329184">
                  <a:moveTo>
                    <a:pt x="44647" y="0"/>
                  </a:moveTo>
                  <a:lnTo>
                    <a:pt x="2284537" y="0"/>
                  </a:lnTo>
                  <a:cubicBezTo>
                    <a:pt x="2309195" y="0"/>
                    <a:pt x="2329184" y="19989"/>
                    <a:pt x="2329184" y="44647"/>
                  </a:cubicBezTo>
                  <a:lnTo>
                    <a:pt x="2329184" y="898098"/>
                  </a:lnTo>
                  <a:cubicBezTo>
                    <a:pt x="2329184" y="922755"/>
                    <a:pt x="2309195" y="942744"/>
                    <a:pt x="2284537" y="942744"/>
                  </a:cubicBezTo>
                  <a:lnTo>
                    <a:pt x="44647" y="942744"/>
                  </a:lnTo>
                  <a:cubicBezTo>
                    <a:pt x="19989" y="942744"/>
                    <a:pt x="0" y="922755"/>
                    <a:pt x="0" y="898098"/>
                  </a:cubicBezTo>
                  <a:lnTo>
                    <a:pt x="0" y="44647"/>
                  </a:lnTo>
                  <a:cubicBezTo>
                    <a:pt x="0" y="19989"/>
                    <a:pt x="19989" y="0"/>
                    <a:pt x="44647" y="0"/>
                  </a:cubicBezTo>
                  <a:close/>
                </a:path>
              </a:pathLst>
            </a:custGeom>
            <a:solidFill>
              <a:srgbClr val="EFEEFB"/>
            </a:solidFill>
          </p:spPr>
        </p:sp>
        <p:sp>
          <p:nvSpPr>
            <p:cNvPr name="TextBox 9" id="9"/>
            <p:cNvSpPr txBox="true"/>
            <p:nvPr/>
          </p:nvSpPr>
          <p:spPr>
            <a:xfrm>
              <a:off x="0" y="-57150"/>
              <a:ext cx="2329184" cy="999894"/>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9223378" y="3855475"/>
            <a:ext cx="8843620" cy="3579483"/>
            <a:chOff x="0" y="0"/>
            <a:chExt cx="2329184" cy="942744"/>
          </a:xfrm>
        </p:grpSpPr>
        <p:sp>
          <p:nvSpPr>
            <p:cNvPr name="Freeform 11" id="11"/>
            <p:cNvSpPr/>
            <p:nvPr/>
          </p:nvSpPr>
          <p:spPr>
            <a:xfrm flipH="false" flipV="false" rot="0">
              <a:off x="0" y="0"/>
              <a:ext cx="2329184" cy="942744"/>
            </a:xfrm>
            <a:custGeom>
              <a:avLst/>
              <a:gdLst/>
              <a:ahLst/>
              <a:cxnLst/>
              <a:rect r="r" b="b" t="t" l="l"/>
              <a:pathLst>
                <a:path h="942744" w="2329184">
                  <a:moveTo>
                    <a:pt x="44647" y="0"/>
                  </a:moveTo>
                  <a:lnTo>
                    <a:pt x="2284537" y="0"/>
                  </a:lnTo>
                  <a:cubicBezTo>
                    <a:pt x="2309195" y="0"/>
                    <a:pt x="2329184" y="19989"/>
                    <a:pt x="2329184" y="44647"/>
                  </a:cubicBezTo>
                  <a:lnTo>
                    <a:pt x="2329184" y="898098"/>
                  </a:lnTo>
                  <a:cubicBezTo>
                    <a:pt x="2329184" y="922755"/>
                    <a:pt x="2309195" y="942744"/>
                    <a:pt x="2284537" y="942744"/>
                  </a:cubicBezTo>
                  <a:lnTo>
                    <a:pt x="44647" y="942744"/>
                  </a:lnTo>
                  <a:cubicBezTo>
                    <a:pt x="19989" y="942744"/>
                    <a:pt x="0" y="922755"/>
                    <a:pt x="0" y="898098"/>
                  </a:cubicBezTo>
                  <a:lnTo>
                    <a:pt x="0" y="44647"/>
                  </a:lnTo>
                  <a:cubicBezTo>
                    <a:pt x="0" y="19989"/>
                    <a:pt x="19989" y="0"/>
                    <a:pt x="44647" y="0"/>
                  </a:cubicBezTo>
                  <a:close/>
                </a:path>
              </a:pathLst>
            </a:custGeom>
            <a:solidFill>
              <a:srgbClr val="EFEEFB"/>
            </a:solidFill>
          </p:spPr>
        </p:sp>
        <p:sp>
          <p:nvSpPr>
            <p:cNvPr name="TextBox 12" id="12"/>
            <p:cNvSpPr txBox="true"/>
            <p:nvPr/>
          </p:nvSpPr>
          <p:spPr>
            <a:xfrm>
              <a:off x="0" y="-57150"/>
              <a:ext cx="2329184" cy="999894"/>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300380" y="4114800"/>
            <a:ext cx="8843620" cy="3019425"/>
          </a:xfrm>
          <a:prstGeom prst="rect">
            <a:avLst/>
          </a:prstGeom>
        </p:spPr>
        <p:txBody>
          <a:bodyPr anchor="t" rtlCol="false" tIns="0" lIns="0" bIns="0" rIns="0">
            <a:spAutoFit/>
          </a:bodyPr>
          <a:lstStyle/>
          <a:p>
            <a:pPr algn="ctr">
              <a:lnSpc>
                <a:spcPts val="4799"/>
              </a:lnSpc>
              <a:spcBef>
                <a:spcPct val="0"/>
              </a:spcBef>
            </a:pPr>
            <a:r>
              <a:rPr lang="en-US" b="true" sz="3999">
                <a:solidFill>
                  <a:srgbClr val="008080"/>
                </a:solidFill>
                <a:latin typeface="Times New Roman Bold"/>
                <a:ea typeface="Times New Roman Bold"/>
                <a:cs typeface="Times New Roman Bold"/>
                <a:sym typeface="Times New Roman Bold"/>
              </a:rPr>
              <a:t>Luồng người dùng</a:t>
            </a:r>
          </a:p>
          <a:p>
            <a:pPr algn="l" marL="863599" indent="-431800" lvl="1">
              <a:lnSpc>
                <a:spcPts val="4799"/>
              </a:lnSpc>
              <a:buAutoNum type="arabicPeriod" startAt="1"/>
            </a:pPr>
            <a:r>
              <a:rPr lang="en-US" sz="3999">
                <a:solidFill>
                  <a:srgbClr val="008080"/>
                </a:solidFill>
                <a:latin typeface="Times New Roman"/>
                <a:ea typeface="Times New Roman"/>
                <a:cs typeface="Times New Roman"/>
                <a:sym typeface="Times New Roman"/>
              </a:rPr>
              <a:t>Người dùng nhập thông tin tìm kiếm</a:t>
            </a:r>
          </a:p>
          <a:p>
            <a:pPr algn="l" marL="863599" indent="-431800" lvl="1">
              <a:lnSpc>
                <a:spcPts val="4799"/>
              </a:lnSpc>
              <a:buAutoNum type="arabicPeriod" startAt="1"/>
            </a:pPr>
            <a:r>
              <a:rPr lang="en-US" sz="3999">
                <a:solidFill>
                  <a:srgbClr val="008080"/>
                </a:solidFill>
                <a:latin typeface="Times New Roman"/>
                <a:ea typeface="Times New Roman"/>
                <a:cs typeface="Times New Roman"/>
                <a:sym typeface="Times New Roman"/>
              </a:rPr>
              <a:t>PHP nhận dữ liệu từ form GET/POST</a:t>
            </a:r>
          </a:p>
          <a:p>
            <a:pPr algn="l" marL="863599" indent="-431800" lvl="1">
              <a:lnSpc>
                <a:spcPts val="4799"/>
              </a:lnSpc>
              <a:buAutoNum type="arabicPeriod" startAt="1"/>
            </a:pPr>
            <a:r>
              <a:rPr lang="en-US" sz="3999">
                <a:solidFill>
                  <a:srgbClr val="008080"/>
                </a:solidFill>
                <a:latin typeface="Times New Roman"/>
                <a:ea typeface="Times New Roman"/>
                <a:cs typeface="Times New Roman"/>
                <a:sym typeface="Times New Roman"/>
              </a:rPr>
              <a:t>Truy vấn dữ liệu trong MySQL</a:t>
            </a:r>
          </a:p>
          <a:p>
            <a:pPr algn="l" marL="863599" indent="-431800" lvl="1">
              <a:lnSpc>
                <a:spcPts val="4799"/>
              </a:lnSpc>
              <a:buAutoNum type="arabicPeriod" startAt="1"/>
            </a:pPr>
            <a:r>
              <a:rPr lang="en-US" sz="3999">
                <a:solidFill>
                  <a:srgbClr val="008080"/>
                </a:solidFill>
                <a:latin typeface="Times New Roman"/>
                <a:ea typeface="Times New Roman"/>
                <a:cs typeface="Times New Roman"/>
                <a:sym typeface="Times New Roman"/>
              </a:rPr>
              <a:t>Hiển thị kết quả lên giao diện</a:t>
            </a:r>
          </a:p>
        </p:txBody>
      </p:sp>
      <p:sp>
        <p:nvSpPr>
          <p:cNvPr name="TextBox 14" id="14"/>
          <p:cNvSpPr txBox="true"/>
          <p:nvPr/>
        </p:nvSpPr>
        <p:spPr>
          <a:xfrm rot="0">
            <a:off x="9223378" y="4196607"/>
            <a:ext cx="7638007" cy="3019425"/>
          </a:xfrm>
          <a:prstGeom prst="rect">
            <a:avLst/>
          </a:prstGeom>
        </p:spPr>
        <p:txBody>
          <a:bodyPr anchor="t" rtlCol="false" tIns="0" lIns="0" bIns="0" rIns="0">
            <a:spAutoFit/>
          </a:bodyPr>
          <a:lstStyle/>
          <a:p>
            <a:pPr algn="ctr">
              <a:lnSpc>
                <a:spcPts val="4799"/>
              </a:lnSpc>
              <a:spcBef>
                <a:spcPct val="0"/>
              </a:spcBef>
            </a:pPr>
            <a:r>
              <a:rPr lang="en-US" b="true" sz="3999">
                <a:solidFill>
                  <a:srgbClr val="008080"/>
                </a:solidFill>
                <a:latin typeface="Times New Roman Bold"/>
                <a:ea typeface="Times New Roman Bold"/>
                <a:cs typeface="Times New Roman Bold"/>
                <a:sym typeface="Times New Roman Bold"/>
              </a:rPr>
              <a:t>Luồng quản trị</a:t>
            </a:r>
          </a:p>
          <a:p>
            <a:pPr algn="l" marL="863595" indent="-431797" lvl="1">
              <a:lnSpc>
                <a:spcPts val="4799"/>
              </a:lnSpc>
              <a:buAutoNum type="arabicPeriod" startAt="1"/>
            </a:pPr>
            <a:r>
              <a:rPr lang="en-US" sz="3999">
                <a:solidFill>
                  <a:srgbClr val="008080"/>
                </a:solidFill>
                <a:latin typeface="Times New Roman"/>
                <a:ea typeface="Times New Roman"/>
                <a:cs typeface="Times New Roman"/>
                <a:sym typeface="Times New Roman"/>
              </a:rPr>
              <a:t>Đăng nhập trang quản trị</a:t>
            </a:r>
          </a:p>
          <a:p>
            <a:pPr algn="l" marL="863595" indent="-431797" lvl="1">
              <a:lnSpc>
                <a:spcPts val="4799"/>
              </a:lnSpc>
              <a:buAutoNum type="arabicPeriod" startAt="1"/>
            </a:pPr>
            <a:r>
              <a:rPr lang="en-US" sz="3999">
                <a:solidFill>
                  <a:srgbClr val="008080"/>
                </a:solidFill>
                <a:latin typeface="Times New Roman"/>
                <a:ea typeface="Times New Roman"/>
                <a:cs typeface="Times New Roman"/>
                <a:sym typeface="Times New Roman"/>
              </a:rPr>
              <a:t>Thêm, sửa, xóa dữ liệu</a:t>
            </a:r>
          </a:p>
          <a:p>
            <a:pPr algn="l" marL="863595" indent="-431797" lvl="1">
              <a:lnSpc>
                <a:spcPts val="4799"/>
              </a:lnSpc>
              <a:buAutoNum type="arabicPeriod" startAt="1"/>
            </a:pPr>
            <a:r>
              <a:rPr lang="en-US" sz="3999">
                <a:solidFill>
                  <a:srgbClr val="008080"/>
                </a:solidFill>
                <a:latin typeface="Times New Roman"/>
                <a:ea typeface="Times New Roman"/>
                <a:cs typeface="Times New Roman"/>
                <a:sym typeface="Times New Roman"/>
              </a:rPr>
              <a:t>Import CSV vào database</a:t>
            </a:r>
          </a:p>
          <a:p>
            <a:pPr algn="l" marL="863595" indent="-431797" lvl="1">
              <a:lnSpc>
                <a:spcPts val="4799"/>
              </a:lnSpc>
              <a:buAutoNum type="arabicPeriod" startAt="1"/>
            </a:pPr>
            <a:r>
              <a:rPr lang="en-US" sz="3999">
                <a:solidFill>
                  <a:srgbClr val="008080"/>
                </a:solidFill>
                <a:latin typeface="Times New Roman"/>
                <a:ea typeface="Times New Roman"/>
                <a:cs typeface="Times New Roman"/>
                <a:sym typeface="Times New Roman"/>
              </a:rPr>
              <a:t>Kiểm tra dữ liệu đầu vào</a:t>
            </a:r>
          </a:p>
        </p:txBody>
      </p:sp>
    </p:spTree>
  </p:cSld>
  <p:clrMapOvr>
    <a:masterClrMapping/>
  </p:clrMapOvr>
  <p:transition spd="fast">
    <p:circle/>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8016535" y="342805"/>
            <a:ext cx="10271465" cy="1261095"/>
            <a:chOff x="0" y="0"/>
            <a:chExt cx="13695286" cy="1681460"/>
          </a:xfrm>
        </p:grpSpPr>
        <p:sp>
          <p:nvSpPr>
            <p:cNvPr name="Freeform 4" id="4"/>
            <p:cNvSpPr/>
            <p:nvPr/>
          </p:nvSpPr>
          <p:spPr>
            <a:xfrm flipH="false" flipV="false" rot="0">
              <a:off x="0" y="0"/>
              <a:ext cx="13695283" cy="1681465"/>
            </a:xfrm>
            <a:custGeom>
              <a:avLst/>
              <a:gdLst/>
              <a:ahLst/>
              <a:cxnLst/>
              <a:rect r="r" b="b" t="t" l="l"/>
              <a:pathLst>
                <a:path h="1681465" w="13695283">
                  <a:moveTo>
                    <a:pt x="0" y="0"/>
                  </a:moveTo>
                  <a:lnTo>
                    <a:pt x="13695283" y="0"/>
                  </a:lnTo>
                  <a:lnTo>
                    <a:pt x="13695283" y="1681465"/>
                  </a:lnTo>
                  <a:lnTo>
                    <a:pt x="0" y="1681465"/>
                  </a:lnTo>
                  <a:close/>
                </a:path>
              </a:pathLst>
            </a:custGeom>
            <a:blipFill>
              <a:blip r:embed="rId3">
                <a:alphaModFix amt="0"/>
              </a:blip>
              <a:stretch>
                <a:fillRect l="0" t="-117720" r="0" b="-99684"/>
              </a:stretch>
            </a:blipFill>
          </p:spPr>
        </p:sp>
        <p:sp>
          <p:nvSpPr>
            <p:cNvPr name="TextBox 5" id="5"/>
            <p:cNvSpPr txBox="true"/>
            <p:nvPr/>
          </p:nvSpPr>
          <p:spPr>
            <a:xfrm>
              <a:off x="0" y="-28575"/>
              <a:ext cx="13695286" cy="1710035"/>
            </a:xfrm>
            <a:prstGeom prst="rect">
              <a:avLst/>
            </a:prstGeom>
          </p:spPr>
          <p:txBody>
            <a:bodyPr anchor="ctr" rtlCol="false" tIns="0" lIns="0" bIns="0" rIns="0"/>
            <a:lstStyle/>
            <a:p>
              <a:pPr algn="ctr">
                <a:lnSpc>
                  <a:spcPts val="4320"/>
                </a:lnSpc>
              </a:pPr>
              <a:r>
                <a:rPr lang="en-US" sz="3600" b="true">
                  <a:solidFill>
                    <a:srgbClr val="008080"/>
                  </a:solidFill>
                  <a:latin typeface="Times New Roman Bold"/>
                  <a:ea typeface="Times New Roman Bold"/>
                  <a:cs typeface="Times New Roman Bold"/>
                  <a:sym typeface="Times New Roman Bold"/>
                </a:rPr>
                <a:t>TRƯỜNG ĐẠI HỌC GIAO THÔNG VẬN TẢI </a:t>
              </a:r>
            </a:p>
            <a:p>
              <a:pPr algn="ctr">
                <a:lnSpc>
                  <a:spcPts val="4320"/>
                </a:lnSpc>
              </a:pPr>
              <a:r>
                <a:rPr lang="en-US" sz="3600" b="true">
                  <a:solidFill>
                    <a:srgbClr val="008080"/>
                  </a:solidFill>
                  <a:latin typeface="Times New Roman Bold"/>
                  <a:ea typeface="Times New Roman Bold"/>
                  <a:cs typeface="Times New Roman Bold"/>
                  <a:sym typeface="Times New Roman Bold"/>
                </a:rPr>
                <a:t>THÀNH PHỐ HỒ CHÍ MINH</a:t>
              </a:r>
            </a:p>
          </p:txBody>
        </p:sp>
      </p:grpSp>
      <p:grpSp>
        <p:nvGrpSpPr>
          <p:cNvPr name="Group 6" id="6"/>
          <p:cNvGrpSpPr/>
          <p:nvPr/>
        </p:nvGrpSpPr>
        <p:grpSpPr>
          <a:xfrm rot="0">
            <a:off x="978334" y="2666593"/>
            <a:ext cx="5979884" cy="6591707"/>
            <a:chOff x="0" y="0"/>
            <a:chExt cx="1574949" cy="1736087"/>
          </a:xfrm>
        </p:grpSpPr>
        <p:sp>
          <p:nvSpPr>
            <p:cNvPr name="Freeform 7" id="7"/>
            <p:cNvSpPr/>
            <p:nvPr/>
          </p:nvSpPr>
          <p:spPr>
            <a:xfrm flipH="false" flipV="false" rot="0">
              <a:off x="0" y="0"/>
              <a:ext cx="1574949" cy="1736087"/>
            </a:xfrm>
            <a:custGeom>
              <a:avLst/>
              <a:gdLst/>
              <a:ahLst/>
              <a:cxnLst/>
              <a:rect r="r" b="b" t="t" l="l"/>
              <a:pathLst>
                <a:path h="1736087" w="1574949">
                  <a:moveTo>
                    <a:pt x="66028" y="0"/>
                  </a:moveTo>
                  <a:lnTo>
                    <a:pt x="1508921" y="0"/>
                  </a:lnTo>
                  <a:cubicBezTo>
                    <a:pt x="1526433" y="0"/>
                    <a:pt x="1543227" y="6956"/>
                    <a:pt x="1555610" y="19339"/>
                  </a:cubicBezTo>
                  <a:cubicBezTo>
                    <a:pt x="1567993" y="31722"/>
                    <a:pt x="1574949" y="48516"/>
                    <a:pt x="1574949" y="66028"/>
                  </a:cubicBezTo>
                  <a:lnTo>
                    <a:pt x="1574949" y="1670060"/>
                  </a:lnTo>
                  <a:cubicBezTo>
                    <a:pt x="1574949" y="1687571"/>
                    <a:pt x="1567993" y="1704366"/>
                    <a:pt x="1555610" y="1716748"/>
                  </a:cubicBezTo>
                  <a:cubicBezTo>
                    <a:pt x="1543227" y="1729131"/>
                    <a:pt x="1526433" y="1736087"/>
                    <a:pt x="1508921" y="1736087"/>
                  </a:cubicBezTo>
                  <a:lnTo>
                    <a:pt x="66028" y="1736087"/>
                  </a:lnTo>
                  <a:cubicBezTo>
                    <a:pt x="48516" y="1736087"/>
                    <a:pt x="31722" y="1729131"/>
                    <a:pt x="19339" y="1716748"/>
                  </a:cubicBezTo>
                  <a:cubicBezTo>
                    <a:pt x="6956" y="1704366"/>
                    <a:pt x="0" y="1687571"/>
                    <a:pt x="0" y="1670060"/>
                  </a:cubicBezTo>
                  <a:lnTo>
                    <a:pt x="0" y="66028"/>
                  </a:lnTo>
                  <a:cubicBezTo>
                    <a:pt x="0" y="48516"/>
                    <a:pt x="6956" y="31722"/>
                    <a:pt x="19339" y="19339"/>
                  </a:cubicBezTo>
                  <a:cubicBezTo>
                    <a:pt x="31722" y="6956"/>
                    <a:pt x="48516" y="0"/>
                    <a:pt x="66028" y="0"/>
                  </a:cubicBezTo>
                  <a:close/>
                </a:path>
              </a:pathLst>
            </a:custGeom>
            <a:solidFill>
              <a:srgbClr val="EFEEFB"/>
            </a:solidFill>
          </p:spPr>
        </p:sp>
        <p:sp>
          <p:nvSpPr>
            <p:cNvPr name="TextBox 8" id="8"/>
            <p:cNvSpPr txBox="true"/>
            <p:nvPr/>
          </p:nvSpPr>
          <p:spPr>
            <a:xfrm>
              <a:off x="0" y="-57150"/>
              <a:ext cx="1574949" cy="1793237"/>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7272075" y="2666593"/>
            <a:ext cx="9849713" cy="6195226"/>
          </a:xfrm>
          <a:custGeom>
            <a:avLst/>
            <a:gdLst/>
            <a:ahLst/>
            <a:cxnLst/>
            <a:rect r="r" b="b" t="t" l="l"/>
            <a:pathLst>
              <a:path h="6195226" w="9849713">
                <a:moveTo>
                  <a:pt x="0" y="0"/>
                </a:moveTo>
                <a:lnTo>
                  <a:pt x="9849713" y="0"/>
                </a:lnTo>
                <a:lnTo>
                  <a:pt x="9849713" y="6195225"/>
                </a:lnTo>
                <a:lnTo>
                  <a:pt x="0" y="6195225"/>
                </a:lnTo>
                <a:lnTo>
                  <a:pt x="0" y="0"/>
                </a:lnTo>
                <a:close/>
              </a:path>
            </a:pathLst>
          </a:custGeom>
          <a:blipFill>
            <a:blip r:embed="rId4"/>
            <a:stretch>
              <a:fillRect l="0" t="0" r="0" b="0"/>
            </a:stretch>
          </a:blipFill>
        </p:spPr>
      </p:sp>
      <p:sp>
        <p:nvSpPr>
          <p:cNvPr name="TextBox 10" id="10"/>
          <p:cNvSpPr txBox="true"/>
          <p:nvPr/>
        </p:nvSpPr>
        <p:spPr>
          <a:xfrm rot="0">
            <a:off x="608369" y="1989701"/>
            <a:ext cx="6287102" cy="7747000"/>
          </a:xfrm>
          <a:prstGeom prst="rect">
            <a:avLst/>
          </a:prstGeom>
        </p:spPr>
        <p:txBody>
          <a:bodyPr anchor="t" rtlCol="false" tIns="0" lIns="0" bIns="0" rIns="0">
            <a:spAutoFit/>
          </a:bodyPr>
          <a:lstStyle/>
          <a:p>
            <a:pPr algn="ctr">
              <a:lnSpc>
                <a:spcPts val="5599"/>
              </a:lnSpc>
            </a:pPr>
          </a:p>
          <a:p>
            <a:pPr algn="ctr">
              <a:lnSpc>
                <a:spcPts val="5599"/>
              </a:lnSpc>
            </a:pPr>
            <a:r>
              <a:rPr lang="en-US" b="true" sz="3999">
                <a:solidFill>
                  <a:srgbClr val="008080"/>
                </a:solidFill>
                <a:latin typeface="Times New Roman Bold"/>
                <a:ea typeface="Times New Roman Bold"/>
                <a:cs typeface="Times New Roman Bold"/>
                <a:sym typeface="Times New Roman Bold"/>
              </a:rPr>
              <a:t>Các chức năng sẽ demo</a:t>
            </a:r>
          </a:p>
          <a:p>
            <a:pPr algn="ctr">
              <a:lnSpc>
                <a:spcPts val="5599"/>
              </a:lnSpc>
            </a:pPr>
          </a:p>
          <a:p>
            <a:pPr algn="ctr">
              <a:lnSpc>
                <a:spcPts val="5599"/>
              </a:lnSpc>
            </a:pPr>
            <a:r>
              <a:rPr lang="en-US" sz="3999">
                <a:solidFill>
                  <a:srgbClr val="008080"/>
                </a:solidFill>
                <a:latin typeface="Times New Roman"/>
                <a:ea typeface="Times New Roman"/>
                <a:cs typeface="Times New Roman"/>
                <a:sym typeface="Times New Roman"/>
              </a:rPr>
              <a:t>Mở trang chủ</a:t>
            </a:r>
          </a:p>
          <a:p>
            <a:pPr algn="ctr">
              <a:lnSpc>
                <a:spcPts val="5599"/>
              </a:lnSpc>
            </a:pPr>
            <a:r>
              <a:rPr lang="en-US" sz="3999">
                <a:solidFill>
                  <a:srgbClr val="008080"/>
                </a:solidFill>
                <a:latin typeface="Times New Roman"/>
                <a:ea typeface="Times New Roman"/>
                <a:cs typeface="Times New Roman"/>
                <a:sym typeface="Times New Roman"/>
              </a:rPr>
              <a:t>Tìm kiếm theo tên trường</a:t>
            </a:r>
          </a:p>
          <a:p>
            <a:pPr algn="ctr">
              <a:lnSpc>
                <a:spcPts val="5599"/>
              </a:lnSpc>
            </a:pPr>
            <a:r>
              <a:rPr lang="en-US" sz="3999">
                <a:solidFill>
                  <a:srgbClr val="008080"/>
                </a:solidFill>
                <a:latin typeface="Times New Roman"/>
                <a:ea typeface="Times New Roman"/>
                <a:cs typeface="Times New Roman"/>
                <a:sym typeface="Times New Roman"/>
              </a:rPr>
              <a:t>Tìm kiếm theo ngành học</a:t>
            </a:r>
          </a:p>
          <a:p>
            <a:pPr algn="ctr">
              <a:lnSpc>
                <a:spcPts val="5599"/>
              </a:lnSpc>
            </a:pPr>
            <a:r>
              <a:rPr lang="en-US" sz="3999">
                <a:solidFill>
                  <a:srgbClr val="008080"/>
                </a:solidFill>
                <a:latin typeface="Times New Roman"/>
                <a:ea typeface="Times New Roman"/>
                <a:cs typeface="Times New Roman"/>
                <a:sym typeface="Times New Roman"/>
              </a:rPr>
              <a:t>Xem chi tiết trường</a:t>
            </a:r>
          </a:p>
          <a:p>
            <a:pPr algn="ctr">
              <a:lnSpc>
                <a:spcPts val="5599"/>
              </a:lnSpc>
            </a:pPr>
            <a:r>
              <a:rPr lang="en-US" sz="3999">
                <a:solidFill>
                  <a:srgbClr val="008080"/>
                </a:solidFill>
                <a:latin typeface="Times New Roman"/>
                <a:ea typeface="Times New Roman"/>
                <a:cs typeface="Times New Roman"/>
                <a:sym typeface="Times New Roman"/>
              </a:rPr>
              <a:t>Xem chi tiết ngành</a:t>
            </a:r>
          </a:p>
          <a:p>
            <a:pPr algn="ctr">
              <a:lnSpc>
                <a:spcPts val="5599"/>
              </a:lnSpc>
            </a:pPr>
            <a:r>
              <a:rPr lang="en-US" sz="3999">
                <a:solidFill>
                  <a:srgbClr val="008080"/>
                </a:solidFill>
                <a:latin typeface="Times New Roman"/>
                <a:ea typeface="Times New Roman"/>
                <a:cs typeface="Times New Roman"/>
                <a:sym typeface="Times New Roman"/>
              </a:rPr>
              <a:t>So sánh điểm chuẩn</a:t>
            </a:r>
          </a:p>
          <a:p>
            <a:pPr algn="ctr">
              <a:lnSpc>
                <a:spcPts val="5599"/>
              </a:lnSpc>
            </a:pPr>
            <a:r>
              <a:rPr lang="en-US" sz="3999">
                <a:solidFill>
                  <a:srgbClr val="008080"/>
                </a:solidFill>
                <a:latin typeface="Times New Roman"/>
                <a:ea typeface="Times New Roman"/>
                <a:cs typeface="Times New Roman"/>
                <a:sym typeface="Times New Roman"/>
              </a:rPr>
              <a:t>Gợi ý trường theo điểm</a:t>
            </a:r>
          </a:p>
          <a:p>
            <a:pPr algn="ctr">
              <a:lnSpc>
                <a:spcPts val="5599"/>
              </a:lnSpc>
              <a:spcBef>
                <a:spcPct val="0"/>
              </a:spcBef>
            </a:pPr>
          </a:p>
        </p:txBody>
      </p:sp>
      <p:sp>
        <p:nvSpPr>
          <p:cNvPr name="TextBox 11" id="11"/>
          <p:cNvSpPr txBox="true"/>
          <p:nvPr/>
        </p:nvSpPr>
        <p:spPr>
          <a:xfrm rot="0">
            <a:off x="4525679" y="1508758"/>
            <a:ext cx="7471886" cy="892175"/>
          </a:xfrm>
          <a:prstGeom prst="rect">
            <a:avLst/>
          </a:prstGeom>
        </p:spPr>
        <p:txBody>
          <a:bodyPr anchor="t" rtlCol="false" tIns="0" lIns="0" bIns="0" rIns="0">
            <a:spAutoFit/>
          </a:bodyPr>
          <a:lstStyle/>
          <a:p>
            <a:pPr algn="ctr">
              <a:lnSpc>
                <a:spcPts val="7000"/>
              </a:lnSpc>
              <a:spcBef>
                <a:spcPct val="0"/>
              </a:spcBef>
            </a:pPr>
            <a:r>
              <a:rPr lang="en-US" b="true" sz="5000">
                <a:solidFill>
                  <a:srgbClr val="008080"/>
                </a:solidFill>
                <a:latin typeface="Times New Roman Bold"/>
                <a:ea typeface="Times New Roman Bold"/>
                <a:cs typeface="Times New Roman Bold"/>
                <a:sym typeface="Times New Roman Bold"/>
              </a:rPr>
              <a:t>Demo giao diện người dùng</a:t>
            </a:r>
          </a:p>
        </p:txBody>
      </p:sp>
    </p:spTree>
  </p:cSld>
  <p:clrMapOvr>
    <a:masterClrMapping/>
  </p:clrMapOvr>
  <p:transition spd="fast">
    <p:circle/>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8016535" y="342805"/>
            <a:ext cx="10271465" cy="1261095"/>
            <a:chOff x="0" y="0"/>
            <a:chExt cx="13695286" cy="1681460"/>
          </a:xfrm>
        </p:grpSpPr>
        <p:sp>
          <p:nvSpPr>
            <p:cNvPr name="Freeform 4" id="4"/>
            <p:cNvSpPr/>
            <p:nvPr/>
          </p:nvSpPr>
          <p:spPr>
            <a:xfrm flipH="false" flipV="false" rot="0">
              <a:off x="0" y="0"/>
              <a:ext cx="13695283" cy="1681465"/>
            </a:xfrm>
            <a:custGeom>
              <a:avLst/>
              <a:gdLst/>
              <a:ahLst/>
              <a:cxnLst/>
              <a:rect r="r" b="b" t="t" l="l"/>
              <a:pathLst>
                <a:path h="1681465" w="13695283">
                  <a:moveTo>
                    <a:pt x="0" y="0"/>
                  </a:moveTo>
                  <a:lnTo>
                    <a:pt x="13695283" y="0"/>
                  </a:lnTo>
                  <a:lnTo>
                    <a:pt x="13695283" y="1681465"/>
                  </a:lnTo>
                  <a:lnTo>
                    <a:pt x="0" y="1681465"/>
                  </a:lnTo>
                  <a:close/>
                </a:path>
              </a:pathLst>
            </a:custGeom>
            <a:blipFill>
              <a:blip r:embed="rId3">
                <a:alphaModFix amt="0"/>
              </a:blip>
              <a:stretch>
                <a:fillRect l="0" t="-117720" r="0" b="-99684"/>
              </a:stretch>
            </a:blipFill>
          </p:spPr>
        </p:sp>
        <p:sp>
          <p:nvSpPr>
            <p:cNvPr name="TextBox 5" id="5"/>
            <p:cNvSpPr txBox="true"/>
            <p:nvPr/>
          </p:nvSpPr>
          <p:spPr>
            <a:xfrm>
              <a:off x="0" y="-28575"/>
              <a:ext cx="13695286" cy="1710035"/>
            </a:xfrm>
            <a:prstGeom prst="rect">
              <a:avLst/>
            </a:prstGeom>
          </p:spPr>
          <p:txBody>
            <a:bodyPr anchor="ctr" rtlCol="false" tIns="0" lIns="0" bIns="0" rIns="0"/>
            <a:lstStyle/>
            <a:p>
              <a:pPr algn="ctr">
                <a:lnSpc>
                  <a:spcPts val="4320"/>
                </a:lnSpc>
              </a:pPr>
              <a:r>
                <a:rPr lang="en-US" sz="3600" b="true">
                  <a:solidFill>
                    <a:srgbClr val="008080"/>
                  </a:solidFill>
                  <a:latin typeface="Times New Roman Bold"/>
                  <a:ea typeface="Times New Roman Bold"/>
                  <a:cs typeface="Times New Roman Bold"/>
                  <a:sym typeface="Times New Roman Bold"/>
                </a:rPr>
                <a:t>TRƯỜNG ĐẠI HỌC GIAO THÔNG VẬN TẢI </a:t>
              </a:r>
            </a:p>
            <a:p>
              <a:pPr algn="ctr">
                <a:lnSpc>
                  <a:spcPts val="4320"/>
                </a:lnSpc>
              </a:pPr>
              <a:r>
                <a:rPr lang="en-US" sz="3600" b="true">
                  <a:solidFill>
                    <a:srgbClr val="008080"/>
                  </a:solidFill>
                  <a:latin typeface="Times New Roman Bold"/>
                  <a:ea typeface="Times New Roman Bold"/>
                  <a:cs typeface="Times New Roman Bold"/>
                  <a:sym typeface="Times New Roman Bold"/>
                </a:rPr>
                <a:t>THÀNH PHỐ HỒ CHÍ MINH</a:t>
              </a:r>
            </a:p>
          </p:txBody>
        </p:sp>
      </p:grpSp>
      <p:grpSp>
        <p:nvGrpSpPr>
          <p:cNvPr name="Group 6" id="6"/>
          <p:cNvGrpSpPr/>
          <p:nvPr/>
        </p:nvGrpSpPr>
        <p:grpSpPr>
          <a:xfrm rot="0">
            <a:off x="978334" y="2666593"/>
            <a:ext cx="5939259" cy="6629569"/>
            <a:chOff x="0" y="0"/>
            <a:chExt cx="1564249" cy="1746059"/>
          </a:xfrm>
        </p:grpSpPr>
        <p:sp>
          <p:nvSpPr>
            <p:cNvPr name="Freeform 7" id="7"/>
            <p:cNvSpPr/>
            <p:nvPr/>
          </p:nvSpPr>
          <p:spPr>
            <a:xfrm flipH="false" flipV="false" rot="0">
              <a:off x="0" y="0"/>
              <a:ext cx="1564249" cy="1746059"/>
            </a:xfrm>
            <a:custGeom>
              <a:avLst/>
              <a:gdLst/>
              <a:ahLst/>
              <a:cxnLst/>
              <a:rect r="r" b="b" t="t" l="l"/>
              <a:pathLst>
                <a:path h="1746059" w="1564249">
                  <a:moveTo>
                    <a:pt x="66479" y="0"/>
                  </a:moveTo>
                  <a:lnTo>
                    <a:pt x="1497770" y="0"/>
                  </a:lnTo>
                  <a:cubicBezTo>
                    <a:pt x="1534486" y="0"/>
                    <a:pt x="1564249" y="29764"/>
                    <a:pt x="1564249" y="66479"/>
                  </a:cubicBezTo>
                  <a:lnTo>
                    <a:pt x="1564249" y="1679580"/>
                  </a:lnTo>
                  <a:cubicBezTo>
                    <a:pt x="1564249" y="1716295"/>
                    <a:pt x="1534486" y="1746059"/>
                    <a:pt x="1497770" y="1746059"/>
                  </a:cubicBezTo>
                  <a:lnTo>
                    <a:pt x="66479" y="1746059"/>
                  </a:lnTo>
                  <a:cubicBezTo>
                    <a:pt x="29764" y="1746059"/>
                    <a:pt x="0" y="1716295"/>
                    <a:pt x="0" y="1679580"/>
                  </a:cubicBezTo>
                  <a:lnTo>
                    <a:pt x="0" y="66479"/>
                  </a:lnTo>
                  <a:cubicBezTo>
                    <a:pt x="0" y="29764"/>
                    <a:pt x="29764" y="0"/>
                    <a:pt x="66479" y="0"/>
                  </a:cubicBezTo>
                  <a:close/>
                </a:path>
              </a:pathLst>
            </a:custGeom>
            <a:solidFill>
              <a:srgbClr val="EFEEFB"/>
            </a:solidFill>
          </p:spPr>
        </p:sp>
        <p:sp>
          <p:nvSpPr>
            <p:cNvPr name="TextBox 8" id="8"/>
            <p:cNvSpPr txBox="true"/>
            <p:nvPr/>
          </p:nvSpPr>
          <p:spPr>
            <a:xfrm>
              <a:off x="0" y="-57150"/>
              <a:ext cx="1564249" cy="1803209"/>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7184035" y="2666593"/>
            <a:ext cx="10075265" cy="4745548"/>
          </a:xfrm>
          <a:custGeom>
            <a:avLst/>
            <a:gdLst/>
            <a:ahLst/>
            <a:cxnLst/>
            <a:rect r="r" b="b" t="t" l="l"/>
            <a:pathLst>
              <a:path h="4745548" w="10075265">
                <a:moveTo>
                  <a:pt x="0" y="0"/>
                </a:moveTo>
                <a:lnTo>
                  <a:pt x="10075265" y="0"/>
                </a:lnTo>
                <a:lnTo>
                  <a:pt x="10075265" y="4745548"/>
                </a:lnTo>
                <a:lnTo>
                  <a:pt x="0" y="4745548"/>
                </a:lnTo>
                <a:lnTo>
                  <a:pt x="0" y="0"/>
                </a:lnTo>
                <a:close/>
              </a:path>
            </a:pathLst>
          </a:custGeom>
          <a:blipFill>
            <a:blip r:embed="rId4"/>
            <a:stretch>
              <a:fillRect l="0" t="0" r="0" b="0"/>
            </a:stretch>
          </a:blipFill>
        </p:spPr>
      </p:sp>
      <p:sp>
        <p:nvSpPr>
          <p:cNvPr name="TextBox 10" id="10"/>
          <p:cNvSpPr txBox="true"/>
          <p:nvPr/>
        </p:nvSpPr>
        <p:spPr>
          <a:xfrm rot="0">
            <a:off x="1028700" y="2571343"/>
            <a:ext cx="5888893" cy="7042150"/>
          </a:xfrm>
          <a:prstGeom prst="rect">
            <a:avLst/>
          </a:prstGeom>
        </p:spPr>
        <p:txBody>
          <a:bodyPr anchor="t" rtlCol="false" tIns="0" lIns="0" bIns="0" rIns="0">
            <a:spAutoFit/>
          </a:bodyPr>
          <a:lstStyle/>
          <a:p>
            <a:pPr algn="ctr">
              <a:lnSpc>
                <a:spcPts val="5599"/>
              </a:lnSpc>
            </a:pPr>
            <a:r>
              <a:rPr lang="en-US" sz="3999" b="true">
                <a:solidFill>
                  <a:srgbClr val="008080"/>
                </a:solidFill>
                <a:latin typeface="Times New Roman Bold"/>
                <a:ea typeface="Times New Roman Bold"/>
                <a:cs typeface="Times New Roman Bold"/>
                <a:sym typeface="Times New Roman Bold"/>
              </a:rPr>
              <a:t>Các chức năng sẽ demo</a:t>
            </a:r>
          </a:p>
          <a:p>
            <a:pPr algn="ctr">
              <a:lnSpc>
                <a:spcPts val="5599"/>
              </a:lnSpc>
            </a:pPr>
          </a:p>
          <a:p>
            <a:pPr algn="ctr">
              <a:lnSpc>
                <a:spcPts val="5599"/>
              </a:lnSpc>
            </a:pPr>
            <a:r>
              <a:rPr lang="en-US" sz="3999">
                <a:solidFill>
                  <a:srgbClr val="008080"/>
                </a:solidFill>
                <a:latin typeface="Times New Roman"/>
                <a:ea typeface="Times New Roman"/>
                <a:cs typeface="Times New Roman"/>
                <a:sym typeface="Times New Roman"/>
              </a:rPr>
              <a:t>Đăng nhập admin</a:t>
            </a:r>
          </a:p>
          <a:p>
            <a:pPr algn="ctr">
              <a:lnSpc>
                <a:spcPts val="5599"/>
              </a:lnSpc>
            </a:pPr>
            <a:r>
              <a:rPr lang="en-US" sz="3999">
                <a:solidFill>
                  <a:srgbClr val="008080"/>
                </a:solidFill>
                <a:latin typeface="Times New Roman"/>
                <a:ea typeface="Times New Roman"/>
                <a:cs typeface="Times New Roman"/>
                <a:sym typeface="Times New Roman"/>
              </a:rPr>
              <a:t>Xem dashboard thống kê</a:t>
            </a:r>
          </a:p>
          <a:p>
            <a:pPr algn="ctr">
              <a:lnSpc>
                <a:spcPts val="5599"/>
              </a:lnSpc>
            </a:pPr>
            <a:r>
              <a:rPr lang="en-US" sz="3999">
                <a:solidFill>
                  <a:srgbClr val="008080"/>
                </a:solidFill>
                <a:latin typeface="Times New Roman"/>
                <a:ea typeface="Times New Roman"/>
                <a:cs typeface="Times New Roman"/>
                <a:sym typeface="Times New Roman"/>
              </a:rPr>
              <a:t>Thêm, sửa, xóa trường đại học</a:t>
            </a:r>
          </a:p>
          <a:p>
            <a:pPr algn="ctr">
              <a:lnSpc>
                <a:spcPts val="5599"/>
              </a:lnSpc>
            </a:pPr>
            <a:r>
              <a:rPr lang="en-US" sz="3999">
                <a:solidFill>
                  <a:srgbClr val="008080"/>
                </a:solidFill>
                <a:latin typeface="Times New Roman"/>
                <a:ea typeface="Times New Roman"/>
                <a:cs typeface="Times New Roman"/>
                <a:sym typeface="Times New Roman"/>
              </a:rPr>
              <a:t>Thêm, sửa, xóa ngành học</a:t>
            </a:r>
          </a:p>
          <a:p>
            <a:pPr algn="ctr">
              <a:lnSpc>
                <a:spcPts val="5599"/>
              </a:lnSpc>
            </a:pPr>
            <a:r>
              <a:rPr lang="en-US" sz="3999">
                <a:solidFill>
                  <a:srgbClr val="008080"/>
                </a:solidFill>
                <a:latin typeface="Times New Roman"/>
                <a:ea typeface="Times New Roman"/>
                <a:cs typeface="Times New Roman"/>
                <a:sym typeface="Times New Roman"/>
              </a:rPr>
              <a:t>Quản lý điểm chuẩn</a:t>
            </a:r>
          </a:p>
          <a:p>
            <a:pPr algn="ctr">
              <a:lnSpc>
                <a:spcPts val="5599"/>
              </a:lnSpc>
            </a:pPr>
            <a:r>
              <a:rPr lang="en-US" sz="3999">
                <a:solidFill>
                  <a:srgbClr val="008080"/>
                </a:solidFill>
                <a:latin typeface="Times New Roman"/>
                <a:ea typeface="Times New Roman"/>
                <a:cs typeface="Times New Roman"/>
                <a:sym typeface="Times New Roman"/>
              </a:rPr>
              <a:t>Import dữ liệu từ file CSV</a:t>
            </a:r>
          </a:p>
          <a:p>
            <a:pPr algn="ctr">
              <a:lnSpc>
                <a:spcPts val="5599"/>
              </a:lnSpc>
              <a:spcBef>
                <a:spcPct val="0"/>
              </a:spcBef>
            </a:pPr>
          </a:p>
        </p:txBody>
      </p:sp>
      <p:sp>
        <p:nvSpPr>
          <p:cNvPr name="TextBox 11" id="11"/>
          <p:cNvSpPr txBox="true"/>
          <p:nvPr/>
        </p:nvSpPr>
        <p:spPr>
          <a:xfrm rot="0">
            <a:off x="5466035" y="1508758"/>
            <a:ext cx="5591175" cy="892175"/>
          </a:xfrm>
          <a:prstGeom prst="rect">
            <a:avLst/>
          </a:prstGeom>
        </p:spPr>
        <p:txBody>
          <a:bodyPr anchor="t" rtlCol="false" tIns="0" lIns="0" bIns="0" rIns="0">
            <a:spAutoFit/>
          </a:bodyPr>
          <a:lstStyle/>
          <a:p>
            <a:pPr algn="ctr">
              <a:lnSpc>
                <a:spcPts val="7000"/>
              </a:lnSpc>
              <a:spcBef>
                <a:spcPct val="0"/>
              </a:spcBef>
            </a:pPr>
            <a:r>
              <a:rPr lang="en-US" b="true" sz="5000">
                <a:solidFill>
                  <a:srgbClr val="008080"/>
                </a:solidFill>
                <a:latin typeface="Times New Roman Bold"/>
                <a:ea typeface="Times New Roman Bold"/>
                <a:cs typeface="Times New Roman Bold"/>
                <a:sym typeface="Times New Roman Bold"/>
              </a:rPr>
              <a:t>Demo trang quản trị</a:t>
            </a: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8016535" y="342805"/>
            <a:ext cx="10271465" cy="1261095"/>
            <a:chOff x="0" y="0"/>
            <a:chExt cx="13695286" cy="1681460"/>
          </a:xfrm>
        </p:grpSpPr>
        <p:sp>
          <p:nvSpPr>
            <p:cNvPr name="Freeform 4" id="4"/>
            <p:cNvSpPr/>
            <p:nvPr/>
          </p:nvSpPr>
          <p:spPr>
            <a:xfrm flipH="false" flipV="false" rot="0">
              <a:off x="0" y="0"/>
              <a:ext cx="13695283" cy="1681465"/>
            </a:xfrm>
            <a:custGeom>
              <a:avLst/>
              <a:gdLst/>
              <a:ahLst/>
              <a:cxnLst/>
              <a:rect r="r" b="b" t="t" l="l"/>
              <a:pathLst>
                <a:path h="1681465" w="13695283">
                  <a:moveTo>
                    <a:pt x="0" y="0"/>
                  </a:moveTo>
                  <a:lnTo>
                    <a:pt x="13695283" y="0"/>
                  </a:lnTo>
                  <a:lnTo>
                    <a:pt x="13695283" y="1681465"/>
                  </a:lnTo>
                  <a:lnTo>
                    <a:pt x="0" y="1681465"/>
                  </a:lnTo>
                  <a:close/>
                </a:path>
              </a:pathLst>
            </a:custGeom>
            <a:blipFill>
              <a:blip r:embed="rId3">
                <a:alphaModFix amt="0"/>
              </a:blip>
              <a:stretch>
                <a:fillRect l="0" t="-117720" r="0" b="-99684"/>
              </a:stretch>
            </a:blipFill>
          </p:spPr>
        </p:sp>
        <p:sp>
          <p:nvSpPr>
            <p:cNvPr name="TextBox 5" id="5"/>
            <p:cNvSpPr txBox="true"/>
            <p:nvPr/>
          </p:nvSpPr>
          <p:spPr>
            <a:xfrm>
              <a:off x="0" y="-28575"/>
              <a:ext cx="13695286" cy="1710035"/>
            </a:xfrm>
            <a:prstGeom prst="rect">
              <a:avLst/>
            </a:prstGeom>
          </p:spPr>
          <p:txBody>
            <a:bodyPr anchor="ctr" rtlCol="false" tIns="0" lIns="0" bIns="0" rIns="0"/>
            <a:lstStyle/>
            <a:p>
              <a:pPr algn="ctr">
                <a:lnSpc>
                  <a:spcPts val="4320"/>
                </a:lnSpc>
              </a:pPr>
              <a:r>
                <a:rPr lang="en-US" sz="3600" b="true">
                  <a:solidFill>
                    <a:srgbClr val="008080"/>
                  </a:solidFill>
                  <a:latin typeface="Times New Roman Bold"/>
                  <a:ea typeface="Times New Roman Bold"/>
                  <a:cs typeface="Times New Roman Bold"/>
                  <a:sym typeface="Times New Roman Bold"/>
                </a:rPr>
                <a:t>TRƯỜNG ĐẠI HỌC GIAO THÔNG VẬN TẢI </a:t>
              </a:r>
            </a:p>
            <a:p>
              <a:pPr algn="ctr">
                <a:lnSpc>
                  <a:spcPts val="4320"/>
                </a:lnSpc>
              </a:pPr>
              <a:r>
                <a:rPr lang="en-US" sz="3600" b="true">
                  <a:solidFill>
                    <a:srgbClr val="008080"/>
                  </a:solidFill>
                  <a:latin typeface="Times New Roman Bold"/>
                  <a:ea typeface="Times New Roman Bold"/>
                  <a:cs typeface="Times New Roman Bold"/>
                  <a:sym typeface="Times New Roman Bold"/>
                </a:rPr>
                <a:t>THÀNH PHỐ HỒ CHÍ MINH</a:t>
              </a:r>
            </a:p>
          </p:txBody>
        </p:sp>
      </p:grpSp>
      <p:grpSp>
        <p:nvGrpSpPr>
          <p:cNvPr name="Group 6" id="6"/>
          <p:cNvGrpSpPr/>
          <p:nvPr/>
        </p:nvGrpSpPr>
        <p:grpSpPr>
          <a:xfrm rot="0">
            <a:off x="6716042" y="3224364"/>
            <a:ext cx="4855915" cy="5674903"/>
            <a:chOff x="0" y="0"/>
            <a:chExt cx="1278924" cy="1494625"/>
          </a:xfrm>
        </p:grpSpPr>
        <p:sp>
          <p:nvSpPr>
            <p:cNvPr name="Freeform 7" id="7"/>
            <p:cNvSpPr/>
            <p:nvPr/>
          </p:nvSpPr>
          <p:spPr>
            <a:xfrm flipH="false" flipV="false" rot="0">
              <a:off x="0" y="0"/>
              <a:ext cx="1278924" cy="1494625"/>
            </a:xfrm>
            <a:custGeom>
              <a:avLst/>
              <a:gdLst/>
              <a:ahLst/>
              <a:cxnLst/>
              <a:rect r="r" b="b" t="t" l="l"/>
              <a:pathLst>
                <a:path h="1494625" w="1278924">
                  <a:moveTo>
                    <a:pt x="81311" y="0"/>
                  </a:moveTo>
                  <a:lnTo>
                    <a:pt x="1197613" y="0"/>
                  </a:lnTo>
                  <a:cubicBezTo>
                    <a:pt x="1242520" y="0"/>
                    <a:pt x="1278924" y="36404"/>
                    <a:pt x="1278924" y="81311"/>
                  </a:cubicBezTo>
                  <a:lnTo>
                    <a:pt x="1278924" y="1413314"/>
                  </a:lnTo>
                  <a:cubicBezTo>
                    <a:pt x="1278924" y="1458221"/>
                    <a:pt x="1242520" y="1494625"/>
                    <a:pt x="1197613" y="1494625"/>
                  </a:cubicBezTo>
                  <a:lnTo>
                    <a:pt x="81311" y="1494625"/>
                  </a:lnTo>
                  <a:cubicBezTo>
                    <a:pt x="36404" y="1494625"/>
                    <a:pt x="0" y="1458221"/>
                    <a:pt x="0" y="1413314"/>
                  </a:cubicBezTo>
                  <a:lnTo>
                    <a:pt x="0" y="81311"/>
                  </a:lnTo>
                  <a:cubicBezTo>
                    <a:pt x="0" y="36404"/>
                    <a:pt x="36404" y="0"/>
                    <a:pt x="81311" y="0"/>
                  </a:cubicBezTo>
                  <a:close/>
                </a:path>
              </a:pathLst>
            </a:custGeom>
            <a:solidFill>
              <a:srgbClr val="EFEEFB"/>
            </a:solidFill>
          </p:spPr>
        </p:sp>
        <p:sp>
          <p:nvSpPr>
            <p:cNvPr name="TextBox 8" id="8"/>
            <p:cNvSpPr txBox="true"/>
            <p:nvPr/>
          </p:nvSpPr>
          <p:spPr>
            <a:xfrm>
              <a:off x="0" y="-95250"/>
              <a:ext cx="1278924" cy="1589875"/>
            </a:xfrm>
            <a:prstGeom prst="rect">
              <a:avLst/>
            </a:prstGeom>
          </p:spPr>
          <p:txBody>
            <a:bodyPr anchor="ctr" rtlCol="false" tIns="50800" lIns="50800" bIns="50800" rIns="50800"/>
            <a:lstStyle/>
            <a:p>
              <a:pPr algn="ctr">
                <a:lnSpc>
                  <a:spcPts val="5599"/>
                </a:lnSpc>
              </a:pPr>
            </a:p>
          </p:txBody>
        </p:sp>
      </p:grpSp>
      <p:grpSp>
        <p:nvGrpSpPr>
          <p:cNvPr name="Group 9" id="9"/>
          <p:cNvGrpSpPr/>
          <p:nvPr/>
        </p:nvGrpSpPr>
        <p:grpSpPr>
          <a:xfrm rot="0">
            <a:off x="1205682" y="3224364"/>
            <a:ext cx="4855915" cy="5674903"/>
            <a:chOff x="0" y="0"/>
            <a:chExt cx="1278924" cy="1494625"/>
          </a:xfrm>
        </p:grpSpPr>
        <p:sp>
          <p:nvSpPr>
            <p:cNvPr name="Freeform 10" id="10"/>
            <p:cNvSpPr/>
            <p:nvPr/>
          </p:nvSpPr>
          <p:spPr>
            <a:xfrm flipH="false" flipV="false" rot="0">
              <a:off x="0" y="0"/>
              <a:ext cx="1278924" cy="1494625"/>
            </a:xfrm>
            <a:custGeom>
              <a:avLst/>
              <a:gdLst/>
              <a:ahLst/>
              <a:cxnLst/>
              <a:rect r="r" b="b" t="t" l="l"/>
              <a:pathLst>
                <a:path h="1494625" w="1278924">
                  <a:moveTo>
                    <a:pt x="81311" y="0"/>
                  </a:moveTo>
                  <a:lnTo>
                    <a:pt x="1197613" y="0"/>
                  </a:lnTo>
                  <a:cubicBezTo>
                    <a:pt x="1242520" y="0"/>
                    <a:pt x="1278924" y="36404"/>
                    <a:pt x="1278924" y="81311"/>
                  </a:cubicBezTo>
                  <a:lnTo>
                    <a:pt x="1278924" y="1413314"/>
                  </a:lnTo>
                  <a:cubicBezTo>
                    <a:pt x="1278924" y="1458221"/>
                    <a:pt x="1242520" y="1494625"/>
                    <a:pt x="1197613" y="1494625"/>
                  </a:cubicBezTo>
                  <a:lnTo>
                    <a:pt x="81311" y="1494625"/>
                  </a:lnTo>
                  <a:cubicBezTo>
                    <a:pt x="36404" y="1494625"/>
                    <a:pt x="0" y="1458221"/>
                    <a:pt x="0" y="1413314"/>
                  </a:cubicBezTo>
                  <a:lnTo>
                    <a:pt x="0" y="81311"/>
                  </a:lnTo>
                  <a:cubicBezTo>
                    <a:pt x="0" y="36404"/>
                    <a:pt x="36404" y="0"/>
                    <a:pt x="81311" y="0"/>
                  </a:cubicBezTo>
                  <a:close/>
                </a:path>
              </a:pathLst>
            </a:custGeom>
            <a:solidFill>
              <a:srgbClr val="EFEEFB"/>
            </a:solidFill>
          </p:spPr>
        </p:sp>
        <p:sp>
          <p:nvSpPr>
            <p:cNvPr name="TextBox 11" id="11"/>
            <p:cNvSpPr txBox="true"/>
            <p:nvPr/>
          </p:nvSpPr>
          <p:spPr>
            <a:xfrm>
              <a:off x="0" y="-95250"/>
              <a:ext cx="1278924" cy="1589875"/>
            </a:xfrm>
            <a:prstGeom prst="rect">
              <a:avLst/>
            </a:prstGeom>
          </p:spPr>
          <p:txBody>
            <a:bodyPr anchor="ctr" rtlCol="false" tIns="50800" lIns="50800" bIns="50800" rIns="50800"/>
            <a:lstStyle/>
            <a:p>
              <a:pPr algn="ctr">
                <a:lnSpc>
                  <a:spcPts val="5599"/>
                </a:lnSpc>
              </a:pPr>
            </a:p>
          </p:txBody>
        </p:sp>
      </p:grpSp>
      <p:sp>
        <p:nvSpPr>
          <p:cNvPr name="TextBox 12" id="12"/>
          <p:cNvSpPr txBox="true"/>
          <p:nvPr/>
        </p:nvSpPr>
        <p:spPr>
          <a:xfrm rot="0">
            <a:off x="4962388" y="1562370"/>
            <a:ext cx="8053507" cy="800100"/>
          </a:xfrm>
          <a:prstGeom prst="rect">
            <a:avLst/>
          </a:prstGeom>
        </p:spPr>
        <p:txBody>
          <a:bodyPr anchor="t" rtlCol="false" tIns="0" lIns="0" bIns="0" rIns="0">
            <a:spAutoFit/>
          </a:bodyPr>
          <a:lstStyle/>
          <a:p>
            <a:pPr algn="ctr">
              <a:lnSpc>
                <a:spcPts val="6000"/>
              </a:lnSpc>
              <a:spcBef>
                <a:spcPct val="0"/>
              </a:spcBef>
            </a:pPr>
            <a:r>
              <a:rPr lang="en-US" b="true" sz="5000">
                <a:solidFill>
                  <a:srgbClr val="008080"/>
                </a:solidFill>
                <a:latin typeface="Times New Roman Bold"/>
                <a:ea typeface="Times New Roman Bold"/>
                <a:cs typeface="Times New Roman Bold"/>
                <a:sym typeface="Times New Roman Bold"/>
              </a:rPr>
              <a:t>Đánh giá &amp; Hướng phát triển</a:t>
            </a:r>
          </a:p>
        </p:txBody>
      </p:sp>
      <p:sp>
        <p:nvSpPr>
          <p:cNvPr name="TextBox 13" id="13"/>
          <p:cNvSpPr txBox="true"/>
          <p:nvPr/>
        </p:nvSpPr>
        <p:spPr>
          <a:xfrm rot="0">
            <a:off x="1472549" y="3479543"/>
            <a:ext cx="4322180" cy="5419725"/>
          </a:xfrm>
          <a:prstGeom prst="rect">
            <a:avLst/>
          </a:prstGeom>
        </p:spPr>
        <p:txBody>
          <a:bodyPr anchor="t" rtlCol="false" tIns="0" lIns="0" bIns="0" rIns="0">
            <a:spAutoFit/>
          </a:bodyPr>
          <a:lstStyle/>
          <a:p>
            <a:pPr algn="ctr">
              <a:lnSpc>
                <a:spcPts val="4799"/>
              </a:lnSpc>
              <a:spcBef>
                <a:spcPct val="0"/>
              </a:spcBef>
            </a:pPr>
            <a:r>
              <a:rPr lang="en-US" b="true" sz="3999">
                <a:solidFill>
                  <a:srgbClr val="008080"/>
                </a:solidFill>
                <a:latin typeface="Times New Roman Bold"/>
                <a:ea typeface="Times New Roman Bold"/>
                <a:cs typeface="Times New Roman Bold"/>
                <a:sym typeface="Times New Roman Bold"/>
              </a:rPr>
              <a:t>Ưu điểm</a:t>
            </a:r>
          </a:p>
          <a:p>
            <a:pPr algn="ctr">
              <a:lnSpc>
                <a:spcPts val="4799"/>
              </a:lnSpc>
              <a:spcBef>
                <a:spcPct val="0"/>
              </a:spcBef>
            </a:pPr>
          </a:p>
          <a:p>
            <a:pPr algn="ctr">
              <a:lnSpc>
                <a:spcPts val="4799"/>
              </a:lnSpc>
              <a:spcBef>
                <a:spcPct val="0"/>
              </a:spcBef>
            </a:pPr>
            <a:r>
              <a:rPr lang="en-US" sz="3999">
                <a:solidFill>
                  <a:srgbClr val="008080"/>
                </a:solidFill>
                <a:latin typeface="Times New Roman"/>
                <a:ea typeface="Times New Roman"/>
                <a:cs typeface="Times New Roman"/>
                <a:sym typeface="Times New Roman"/>
              </a:rPr>
              <a:t>Giao diện dễ sử dụng, đủ chức năng cơ bản, dữ liệu lưu bằng MySQL, có trang quản trị và import CSV.</a:t>
            </a:r>
          </a:p>
          <a:p>
            <a:pPr algn="ctr">
              <a:lnSpc>
                <a:spcPts val="4799"/>
              </a:lnSpc>
              <a:spcBef>
                <a:spcPct val="0"/>
              </a:spcBef>
            </a:pPr>
          </a:p>
        </p:txBody>
      </p:sp>
      <p:sp>
        <p:nvSpPr>
          <p:cNvPr name="TextBox 14" id="14"/>
          <p:cNvSpPr txBox="true"/>
          <p:nvPr/>
        </p:nvSpPr>
        <p:spPr>
          <a:xfrm rot="0">
            <a:off x="6803229" y="3324225"/>
            <a:ext cx="4681541" cy="3619500"/>
          </a:xfrm>
          <a:prstGeom prst="rect">
            <a:avLst/>
          </a:prstGeom>
        </p:spPr>
        <p:txBody>
          <a:bodyPr anchor="t" rtlCol="false" tIns="0" lIns="0" bIns="0" rIns="0">
            <a:spAutoFit/>
          </a:bodyPr>
          <a:lstStyle/>
          <a:p>
            <a:pPr algn="ctr">
              <a:lnSpc>
                <a:spcPts val="4799"/>
              </a:lnSpc>
              <a:spcBef>
                <a:spcPct val="0"/>
              </a:spcBef>
            </a:pPr>
            <a:r>
              <a:rPr lang="en-US" b="true" sz="3999">
                <a:solidFill>
                  <a:srgbClr val="008080"/>
                </a:solidFill>
                <a:latin typeface="Times New Roman Bold"/>
                <a:ea typeface="Times New Roman Bold"/>
                <a:cs typeface="Times New Roman Bold"/>
                <a:sym typeface="Times New Roman Bold"/>
              </a:rPr>
              <a:t>Hạn chế</a:t>
            </a:r>
          </a:p>
          <a:p>
            <a:pPr algn="ctr">
              <a:lnSpc>
                <a:spcPts val="4799"/>
              </a:lnSpc>
              <a:spcBef>
                <a:spcPct val="0"/>
              </a:spcBef>
            </a:pPr>
          </a:p>
          <a:p>
            <a:pPr algn="ctr">
              <a:lnSpc>
                <a:spcPts val="4799"/>
              </a:lnSpc>
              <a:spcBef>
                <a:spcPct val="0"/>
              </a:spcBef>
            </a:pPr>
            <a:r>
              <a:rPr lang="en-US" sz="3999">
                <a:solidFill>
                  <a:srgbClr val="008080"/>
                </a:solidFill>
                <a:latin typeface="Times New Roman"/>
                <a:ea typeface="Times New Roman"/>
                <a:cs typeface="Times New Roman"/>
                <a:sym typeface="Times New Roman"/>
              </a:rPr>
              <a:t>Dữ liệu còn ở mức mẫu, chưa triển khai online, chức năng gợi ý còn đơn giản.</a:t>
            </a:r>
          </a:p>
        </p:txBody>
      </p:sp>
      <p:grpSp>
        <p:nvGrpSpPr>
          <p:cNvPr name="Group 15" id="15"/>
          <p:cNvGrpSpPr/>
          <p:nvPr/>
        </p:nvGrpSpPr>
        <p:grpSpPr>
          <a:xfrm rot="0">
            <a:off x="12063822" y="3224364"/>
            <a:ext cx="4855915" cy="5674903"/>
            <a:chOff x="0" y="0"/>
            <a:chExt cx="1278924" cy="1494625"/>
          </a:xfrm>
        </p:grpSpPr>
        <p:sp>
          <p:nvSpPr>
            <p:cNvPr name="Freeform 16" id="16"/>
            <p:cNvSpPr/>
            <p:nvPr/>
          </p:nvSpPr>
          <p:spPr>
            <a:xfrm flipH="false" flipV="false" rot="0">
              <a:off x="0" y="0"/>
              <a:ext cx="1278924" cy="1494625"/>
            </a:xfrm>
            <a:custGeom>
              <a:avLst/>
              <a:gdLst/>
              <a:ahLst/>
              <a:cxnLst/>
              <a:rect r="r" b="b" t="t" l="l"/>
              <a:pathLst>
                <a:path h="1494625" w="1278924">
                  <a:moveTo>
                    <a:pt x="81311" y="0"/>
                  </a:moveTo>
                  <a:lnTo>
                    <a:pt x="1197613" y="0"/>
                  </a:lnTo>
                  <a:cubicBezTo>
                    <a:pt x="1242520" y="0"/>
                    <a:pt x="1278924" y="36404"/>
                    <a:pt x="1278924" y="81311"/>
                  </a:cubicBezTo>
                  <a:lnTo>
                    <a:pt x="1278924" y="1413314"/>
                  </a:lnTo>
                  <a:cubicBezTo>
                    <a:pt x="1278924" y="1458221"/>
                    <a:pt x="1242520" y="1494625"/>
                    <a:pt x="1197613" y="1494625"/>
                  </a:cubicBezTo>
                  <a:lnTo>
                    <a:pt x="81311" y="1494625"/>
                  </a:lnTo>
                  <a:cubicBezTo>
                    <a:pt x="36404" y="1494625"/>
                    <a:pt x="0" y="1458221"/>
                    <a:pt x="0" y="1413314"/>
                  </a:cubicBezTo>
                  <a:lnTo>
                    <a:pt x="0" y="81311"/>
                  </a:lnTo>
                  <a:cubicBezTo>
                    <a:pt x="0" y="36404"/>
                    <a:pt x="36404" y="0"/>
                    <a:pt x="81311" y="0"/>
                  </a:cubicBezTo>
                  <a:close/>
                </a:path>
              </a:pathLst>
            </a:custGeom>
            <a:solidFill>
              <a:srgbClr val="EFEEFB"/>
            </a:solidFill>
          </p:spPr>
        </p:sp>
        <p:sp>
          <p:nvSpPr>
            <p:cNvPr name="TextBox 17" id="17"/>
            <p:cNvSpPr txBox="true"/>
            <p:nvPr/>
          </p:nvSpPr>
          <p:spPr>
            <a:xfrm>
              <a:off x="0" y="-95250"/>
              <a:ext cx="1278924" cy="1589875"/>
            </a:xfrm>
            <a:prstGeom prst="rect">
              <a:avLst/>
            </a:prstGeom>
          </p:spPr>
          <p:txBody>
            <a:bodyPr anchor="ctr" rtlCol="false" tIns="50800" lIns="50800" bIns="50800" rIns="50800"/>
            <a:lstStyle/>
            <a:p>
              <a:pPr algn="ctr">
                <a:lnSpc>
                  <a:spcPts val="5599"/>
                </a:lnSpc>
              </a:pPr>
            </a:p>
          </p:txBody>
        </p:sp>
      </p:grpSp>
      <p:sp>
        <p:nvSpPr>
          <p:cNvPr name="TextBox 18" id="18"/>
          <p:cNvSpPr txBox="true"/>
          <p:nvPr/>
        </p:nvSpPr>
        <p:spPr>
          <a:xfrm rot="0">
            <a:off x="12357329" y="3324225"/>
            <a:ext cx="4268903" cy="3619500"/>
          </a:xfrm>
          <a:prstGeom prst="rect">
            <a:avLst/>
          </a:prstGeom>
        </p:spPr>
        <p:txBody>
          <a:bodyPr anchor="t" rtlCol="false" tIns="0" lIns="0" bIns="0" rIns="0">
            <a:spAutoFit/>
          </a:bodyPr>
          <a:lstStyle/>
          <a:p>
            <a:pPr algn="ctr">
              <a:lnSpc>
                <a:spcPts val="4799"/>
              </a:lnSpc>
              <a:spcBef>
                <a:spcPct val="0"/>
              </a:spcBef>
            </a:pPr>
            <a:r>
              <a:rPr lang="en-US" b="true" sz="3999">
                <a:solidFill>
                  <a:srgbClr val="008080"/>
                </a:solidFill>
                <a:latin typeface="Times New Roman Bold"/>
                <a:ea typeface="Times New Roman Bold"/>
                <a:cs typeface="Times New Roman Bold"/>
                <a:sym typeface="Times New Roman Bold"/>
              </a:rPr>
              <a:t>Hướng phát triển</a:t>
            </a:r>
          </a:p>
          <a:p>
            <a:pPr algn="ctr">
              <a:lnSpc>
                <a:spcPts val="4799"/>
              </a:lnSpc>
              <a:spcBef>
                <a:spcPct val="0"/>
              </a:spcBef>
            </a:pPr>
          </a:p>
          <a:p>
            <a:pPr algn="ctr">
              <a:lnSpc>
                <a:spcPts val="4799"/>
              </a:lnSpc>
              <a:spcBef>
                <a:spcPct val="0"/>
              </a:spcBef>
            </a:pPr>
            <a:r>
              <a:rPr lang="en-US" sz="3999">
                <a:solidFill>
                  <a:srgbClr val="008080"/>
                </a:solidFill>
                <a:latin typeface="Times New Roman"/>
                <a:ea typeface="Times New Roman"/>
                <a:cs typeface="Times New Roman"/>
                <a:sym typeface="Times New Roman"/>
              </a:rPr>
              <a:t>Bổ sung dữ liệu, đưa lên hosting, cải thiện thuật toán gợi ý, tối ưu responsive.</a:t>
            </a:r>
          </a:p>
        </p:txBody>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8016535" y="342805"/>
            <a:ext cx="10271465" cy="1261095"/>
            <a:chOff x="0" y="0"/>
            <a:chExt cx="13695286" cy="1681460"/>
          </a:xfrm>
        </p:grpSpPr>
        <p:sp>
          <p:nvSpPr>
            <p:cNvPr name="Freeform 4" id="4"/>
            <p:cNvSpPr/>
            <p:nvPr/>
          </p:nvSpPr>
          <p:spPr>
            <a:xfrm flipH="false" flipV="false" rot="0">
              <a:off x="0" y="0"/>
              <a:ext cx="13695283" cy="1681465"/>
            </a:xfrm>
            <a:custGeom>
              <a:avLst/>
              <a:gdLst/>
              <a:ahLst/>
              <a:cxnLst/>
              <a:rect r="r" b="b" t="t" l="l"/>
              <a:pathLst>
                <a:path h="1681465" w="13695283">
                  <a:moveTo>
                    <a:pt x="0" y="0"/>
                  </a:moveTo>
                  <a:lnTo>
                    <a:pt x="13695283" y="0"/>
                  </a:lnTo>
                  <a:lnTo>
                    <a:pt x="13695283" y="1681465"/>
                  </a:lnTo>
                  <a:lnTo>
                    <a:pt x="0" y="1681465"/>
                  </a:lnTo>
                  <a:close/>
                </a:path>
              </a:pathLst>
            </a:custGeom>
            <a:blipFill>
              <a:blip r:embed="rId3">
                <a:alphaModFix amt="0"/>
              </a:blip>
              <a:stretch>
                <a:fillRect l="0" t="-117720" r="0" b="-99684"/>
              </a:stretch>
            </a:blipFill>
          </p:spPr>
        </p:sp>
        <p:sp>
          <p:nvSpPr>
            <p:cNvPr name="TextBox 5" id="5"/>
            <p:cNvSpPr txBox="true"/>
            <p:nvPr/>
          </p:nvSpPr>
          <p:spPr>
            <a:xfrm>
              <a:off x="0" y="-28575"/>
              <a:ext cx="13695286" cy="1710035"/>
            </a:xfrm>
            <a:prstGeom prst="rect">
              <a:avLst/>
            </a:prstGeom>
          </p:spPr>
          <p:txBody>
            <a:bodyPr anchor="ctr" rtlCol="false" tIns="0" lIns="0" bIns="0" rIns="0"/>
            <a:lstStyle/>
            <a:p>
              <a:pPr algn="ctr">
                <a:lnSpc>
                  <a:spcPts val="4320"/>
                </a:lnSpc>
              </a:pPr>
              <a:r>
                <a:rPr lang="en-US" sz="3600" b="true">
                  <a:solidFill>
                    <a:srgbClr val="008080"/>
                  </a:solidFill>
                  <a:latin typeface="Times New Roman Bold"/>
                  <a:ea typeface="Times New Roman Bold"/>
                  <a:cs typeface="Times New Roman Bold"/>
                  <a:sym typeface="Times New Roman Bold"/>
                </a:rPr>
                <a:t>TRƯỜNG ĐẠI HỌC GIAO THÔNG VẬN TẢI </a:t>
              </a:r>
            </a:p>
            <a:p>
              <a:pPr algn="ctr">
                <a:lnSpc>
                  <a:spcPts val="4320"/>
                </a:lnSpc>
              </a:pPr>
              <a:r>
                <a:rPr lang="en-US" sz="3600" b="true">
                  <a:solidFill>
                    <a:srgbClr val="008080"/>
                  </a:solidFill>
                  <a:latin typeface="Times New Roman Bold"/>
                  <a:ea typeface="Times New Roman Bold"/>
                  <a:cs typeface="Times New Roman Bold"/>
                  <a:sym typeface="Times New Roman Bold"/>
                </a:rPr>
                <a:t>THÀNH PHỐ HỒ CHÍ MINH</a:t>
              </a:r>
            </a:p>
          </p:txBody>
        </p:sp>
      </p:grpSp>
      <p:grpSp>
        <p:nvGrpSpPr>
          <p:cNvPr name="Group 6" id="6"/>
          <p:cNvGrpSpPr/>
          <p:nvPr/>
        </p:nvGrpSpPr>
        <p:grpSpPr>
          <a:xfrm rot="0">
            <a:off x="3729902" y="1376448"/>
            <a:ext cx="10828196" cy="7327223"/>
            <a:chOff x="0" y="0"/>
            <a:chExt cx="14437594" cy="9769631"/>
          </a:xfrm>
        </p:grpSpPr>
        <p:sp>
          <p:nvSpPr>
            <p:cNvPr name="TextBox 7" id="7"/>
            <p:cNvSpPr txBox="true"/>
            <p:nvPr/>
          </p:nvSpPr>
          <p:spPr>
            <a:xfrm rot="-592460">
              <a:off x="325749" y="1551321"/>
              <a:ext cx="13634597" cy="4138704"/>
            </a:xfrm>
            <a:prstGeom prst="rect">
              <a:avLst/>
            </a:prstGeom>
          </p:spPr>
          <p:txBody>
            <a:bodyPr anchor="t" rtlCol="false" tIns="0" lIns="0" bIns="0" rIns="0">
              <a:spAutoFit/>
            </a:bodyPr>
            <a:lstStyle/>
            <a:p>
              <a:pPr algn="ctr">
                <a:lnSpc>
                  <a:spcPts val="22455"/>
                </a:lnSpc>
                <a:spcBef>
                  <a:spcPct val="0"/>
                </a:spcBef>
              </a:pPr>
              <a:r>
                <a:rPr lang="en-US" sz="22455">
                  <a:solidFill>
                    <a:srgbClr val="008080"/>
                  </a:solidFill>
                  <a:latin typeface="Bukhari Script"/>
                  <a:ea typeface="Bukhari Script"/>
                  <a:cs typeface="Bukhari Script"/>
                  <a:sym typeface="Bukhari Script"/>
                </a:rPr>
                <a:t>Thank</a:t>
              </a:r>
            </a:p>
          </p:txBody>
        </p:sp>
        <p:sp>
          <p:nvSpPr>
            <p:cNvPr name="TextBox 8" id="8"/>
            <p:cNvSpPr txBox="true"/>
            <p:nvPr/>
          </p:nvSpPr>
          <p:spPr>
            <a:xfrm rot="-515361">
              <a:off x="1794320" y="5132707"/>
              <a:ext cx="12434519" cy="3729279"/>
            </a:xfrm>
            <a:prstGeom prst="rect">
              <a:avLst/>
            </a:prstGeom>
          </p:spPr>
          <p:txBody>
            <a:bodyPr anchor="t" rtlCol="false" tIns="0" lIns="0" bIns="0" rIns="0">
              <a:spAutoFit/>
            </a:bodyPr>
            <a:lstStyle/>
            <a:p>
              <a:pPr algn="ctr">
                <a:lnSpc>
                  <a:spcPts val="20210"/>
                </a:lnSpc>
                <a:spcBef>
                  <a:spcPct val="0"/>
                </a:spcBef>
              </a:pPr>
              <a:r>
                <a:rPr lang="en-US" sz="20210">
                  <a:solidFill>
                    <a:srgbClr val="008080"/>
                  </a:solidFill>
                  <a:latin typeface="Bukhari Script"/>
                  <a:ea typeface="Bukhari Script"/>
                  <a:cs typeface="Bukhari Script"/>
                  <a:sym typeface="Bukhari Script"/>
                </a:rPr>
                <a:t>you!</a:t>
              </a:r>
            </a:p>
          </p:txBody>
        </p:sp>
      </p:grpSp>
    </p:spTree>
  </p:cSld>
  <p:clrMapOvr>
    <a:masterClrMapping/>
  </p:clrMapOvr>
  <p:transition spd="fast">
    <p:cover dir="d"/>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DAHOQMNHq30</dc:identifier>
  <dcterms:modified xsi:type="dcterms:W3CDTF">2011-08-01T06:04:30Z</dcterms:modified>
  <cp:revision>1</cp:revision>
  <dc:title>Website tra cứu điểm chuẩn đại học</dc:title>
</cp:coreProperties>
</file>